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57" r:id="rId3"/>
    <p:sldId id="279" r:id="rId4"/>
    <p:sldId id="264" r:id="rId5"/>
    <p:sldId id="285" r:id="rId6"/>
    <p:sldId id="278" r:id="rId7"/>
    <p:sldId id="266" r:id="rId8"/>
    <p:sldId id="280" r:id="rId9"/>
  </p:sldIdLst>
  <p:sldSz cx="9906000" cy="6858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4E85CA"/>
    <a:srgbClr val="558ED5"/>
    <a:srgbClr val="39557F"/>
    <a:srgbClr val="2B578D"/>
    <a:srgbClr val="5252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41" autoAdjust="0"/>
    <p:restoredTop sz="99658" autoAdjust="0"/>
  </p:normalViewPr>
  <p:slideViewPr>
    <p:cSldViewPr>
      <p:cViewPr varScale="1">
        <p:scale>
          <a:sx n="115" d="100"/>
          <a:sy n="115" d="100"/>
        </p:scale>
        <p:origin x="1662" y="108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rst Page_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pattFill prst="pct50">
            <a:fgClr>
              <a:schemeClr val="tx2">
                <a:lumMod val="60000"/>
                <a:lumOff val="40000"/>
              </a:schemeClr>
            </a:fgClr>
            <a:bgClr>
              <a:schemeClr val="bg1">
                <a:lumMod val="65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dirty="0" err="1" smtClean="0"/>
          </a:p>
        </p:txBody>
      </p:sp>
      <p:sp>
        <p:nvSpPr>
          <p:cNvPr id="23" name="타원 22"/>
          <p:cNvSpPr/>
          <p:nvPr userDrawn="1"/>
        </p:nvSpPr>
        <p:spPr>
          <a:xfrm>
            <a:off x="5654544" y="507848"/>
            <a:ext cx="4286280" cy="3881849"/>
          </a:xfrm>
          <a:prstGeom prst="ellipse">
            <a:avLst/>
          </a:prstGeom>
          <a:gradFill flip="none" rotWithShape="1">
            <a:gsLst>
              <a:gs pos="44000">
                <a:srgbClr val="002060">
                  <a:alpha val="7000"/>
                  <a:lumMod val="83000"/>
                </a:srgbClr>
              </a:gs>
              <a:gs pos="0">
                <a:srgbClr val="A3C5F7">
                  <a:alpha val="78824"/>
                </a:srgbClr>
              </a:gs>
              <a:gs pos="84000">
                <a:srgbClr val="709BE2">
                  <a:alpha val="32941"/>
                </a:srgbClr>
              </a:gs>
            </a:gsLst>
            <a:path path="circle">
              <a:fillToRect r="100000" b="100000"/>
            </a:path>
            <a:tileRect l="-100000" t="-100000"/>
          </a:gradFill>
          <a:ln w="2540" cap="sq">
            <a:noFill/>
            <a:miter lim="800000"/>
          </a:ln>
          <a:effectLst>
            <a:softEdge rad="635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 sz="1000" dirty="0" err="1" smtClean="0">
              <a:solidFill>
                <a:schemeClr val="tx1"/>
              </a:solidFill>
            </a:endParaRPr>
          </a:p>
        </p:txBody>
      </p:sp>
      <p:grpSp>
        <p:nvGrpSpPr>
          <p:cNvPr id="2" name="그룹 1"/>
          <p:cNvGrpSpPr/>
          <p:nvPr userDrawn="1"/>
        </p:nvGrpSpPr>
        <p:grpSpPr>
          <a:xfrm>
            <a:off x="8040266" y="333241"/>
            <a:ext cx="1377230" cy="307766"/>
            <a:chOff x="7939236" y="333241"/>
            <a:chExt cx="1377230" cy="307766"/>
          </a:xfrm>
        </p:grpSpPr>
        <p:sp>
          <p:nvSpPr>
            <p:cNvPr id="3" name="Text Box 43"/>
            <p:cNvSpPr txBox="1">
              <a:spLocks noChangeArrowheads="1"/>
            </p:cNvSpPr>
            <p:nvPr/>
          </p:nvSpPr>
          <p:spPr bwMode="auto">
            <a:xfrm>
              <a:off x="8254353" y="333241"/>
              <a:ext cx="746999" cy="307766"/>
            </a:xfrm>
            <a:prstGeom prst="rect">
              <a:avLst/>
            </a:prstGeom>
            <a:noFill/>
            <a:ln>
              <a:noFill/>
            </a:ln>
            <a:extLst/>
          </p:spPr>
          <p:txBody>
            <a:bodyPr wrap="none" lIns="0" tIns="45715" rIns="0" bIns="45715">
              <a:spAutoFit/>
            </a:bodyPr>
            <a:lstStyle>
              <a:lvl1pPr eaLnBrk="0" hangingPunct="0"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1pPr>
              <a:lvl2pPr marL="742950" indent="-285750" eaLnBrk="0" hangingPunct="0"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2pPr>
              <a:lvl3pPr marL="1143000" indent="-228600" eaLnBrk="0" hangingPunct="0"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3pPr>
              <a:lvl4pPr marL="1600200" indent="-228600" eaLnBrk="0" hangingPunct="0"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4pPr>
              <a:lvl5pPr marL="2057400" indent="-228600" eaLnBrk="0" hangingPunct="0"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1300">
                  <a:solidFill>
                    <a:schemeClr val="tx1"/>
                  </a:solidFill>
                  <a:latin typeface="Arial" charset="0"/>
                  <a:ea typeface="굴림" pitchFamily="50" charset="-127"/>
                </a:defRPr>
              </a:lvl9pPr>
            </a:lstStyle>
            <a:p>
              <a:pPr algn="ctr" eaLnBrk="1" hangingPunct="1">
                <a:defRPr/>
              </a:pPr>
              <a:r>
                <a:rPr lang="en-US" altLang="ko-KR" sz="1400" b="1" i="0" dirty="0" smtClean="0">
                  <a:solidFill>
                    <a:schemeClr val="bg1"/>
                  </a:solidFill>
                  <a:latin typeface="Arial" pitchFamily="34" charset="0"/>
                  <a:ea typeface="맑은 고딕" pitchFamily="50" charset="-127"/>
                  <a:cs typeface="Arial" pitchFamily="34" charset="0"/>
                  <a:sym typeface="Wingdings 3" pitchFamily="18" charset="2"/>
                </a:rPr>
                <a:t>Payment</a:t>
              </a:r>
            </a:p>
          </p:txBody>
        </p:sp>
        <p:sp>
          <p:nvSpPr>
            <p:cNvPr id="4" name="직사각형 3"/>
            <p:cNvSpPr/>
            <p:nvPr userDrawn="1"/>
          </p:nvSpPr>
          <p:spPr>
            <a:xfrm>
              <a:off x="7939236" y="333241"/>
              <a:ext cx="1377230" cy="307766"/>
            </a:xfrm>
            <a:prstGeom prst="rect">
              <a:avLst/>
            </a:prstGeom>
            <a:noFill/>
            <a:ln w="19050" cap="sq">
              <a:solidFill>
                <a:schemeClr val="bg1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직사각형 5"/>
          <p:cNvSpPr/>
          <p:nvPr userDrawn="1"/>
        </p:nvSpPr>
        <p:spPr>
          <a:xfrm>
            <a:off x="0" y="0"/>
            <a:ext cx="9906000" cy="94320"/>
          </a:xfrm>
          <a:prstGeom prst="rect">
            <a:avLst/>
          </a:prstGeom>
          <a:pattFill prst="ltDnDiag">
            <a:fgClr>
              <a:schemeClr val="tx1">
                <a:lumMod val="75000"/>
                <a:lumOff val="25000"/>
              </a:schemeClr>
            </a:fgClr>
            <a:bgClr>
              <a:schemeClr val="tx1">
                <a:lumMod val="65000"/>
                <a:lumOff val="3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kumimoji="0" lang="ko-KR" altLang="en-US" sz="2800" b="1" dirty="0">
              <a:solidFill>
                <a:prstClr val="white"/>
              </a:solidFill>
            </a:endParaRPr>
          </a:p>
        </p:txBody>
      </p:sp>
      <p:graphicFrame>
        <p:nvGraphicFramePr>
          <p:cNvPr id="19" name="Group 11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94012357"/>
              </p:ext>
            </p:extLst>
          </p:nvPr>
        </p:nvGraphicFramePr>
        <p:xfrm>
          <a:off x="6825208" y="5490891"/>
          <a:ext cx="2592288" cy="998921"/>
        </p:xfrm>
        <a:graphic>
          <a:graphicData uri="http://schemas.openxmlformats.org/drawingml/2006/table">
            <a:tbl>
              <a:tblPr/>
              <a:tblGrid>
                <a:gridCol w="79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3467">
                <a:tc>
                  <a:txBody>
                    <a:bodyPr/>
                    <a:lstStyle/>
                    <a:p>
                      <a:pPr marL="0" marR="0" lvl="0" indent="0" algn="l" defTabSz="957263" rtl="0" eaLnBrk="1" fontAlgn="base" latinLnBrk="1" hangingPunct="1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000" kern="1200" dirty="0" smtClean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작 성 일 자 </a:t>
                      </a:r>
                      <a:endParaRPr kumimoji="1" lang="en-US" altLang="ko-KR" sz="1000" kern="1200" dirty="0" smtClean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  <a:cs typeface="+mn-cs"/>
                      </a:endParaRPr>
                    </a:p>
                  </a:txBody>
                  <a:tcPr marL="35995" marR="35995" marT="17998" marB="17998" anchor="ctr" horzOverflow="overflow">
                    <a:lnL cap="flat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9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35995" marR="35995" marT="17998" marB="17998"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866">
                <a:tc>
                  <a:txBody>
                    <a:bodyPr/>
                    <a:lstStyle/>
                    <a:p>
                      <a:pPr marL="0" marR="0" lvl="0" indent="0" algn="l" defTabSz="957263" rtl="0" eaLnBrk="0" fontAlgn="base" latinLnBrk="1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000" kern="1200" dirty="0" smtClean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작   성   자 </a:t>
                      </a:r>
                      <a:endParaRPr kumimoji="1" lang="en-US" altLang="ko-KR" sz="1000" kern="1200" dirty="0" smtClean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  <a:cs typeface="+mn-cs"/>
                      </a:endParaRPr>
                    </a:p>
                  </a:txBody>
                  <a:tcPr marL="35995" marR="35995" marT="17998" marB="17998" anchor="ctr" horzOverflow="overflow">
                    <a:lnL cap="flat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Times New Roman" pitchFamily="18" charset="0"/>
                      </a:endParaRPr>
                    </a:p>
                  </a:txBody>
                  <a:tcPr marL="35995" marR="35995" marT="17998" marB="17998"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588">
                <a:tc>
                  <a:txBody>
                    <a:bodyPr/>
                    <a:lstStyle/>
                    <a:p>
                      <a:pPr marL="0" marR="0" lvl="0" indent="0" algn="l" defTabSz="957263" rtl="0" eaLnBrk="0" fontAlgn="base" latinLnBrk="1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1000" kern="1200" dirty="0" smtClean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문서관리자 </a:t>
                      </a:r>
                      <a:endParaRPr kumimoji="1" lang="en-US" altLang="ko-KR" sz="1000" kern="1200" dirty="0" smtClean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  <a:cs typeface="+mn-cs"/>
                      </a:endParaRPr>
                    </a:p>
                  </a:txBody>
                  <a:tcPr marL="35995" marR="35995" marT="17998" marB="17998" anchor="ctr" horzOverflow="overflow">
                    <a:lnL cap="flat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Times New Roman" pitchFamily="18" charset="0"/>
                        </a:rPr>
                        <a:t> </a:t>
                      </a:r>
                      <a:r>
                        <a:rPr kumimoji="1" lang="ko-KR" altLang="en-US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Times New Roman" pitchFamily="18" charset="0"/>
                        </a:rPr>
                        <a:t>㈜</a:t>
                      </a:r>
                      <a:r>
                        <a:rPr kumimoji="1" lang="ko-KR" altLang="en-US" sz="1000" b="0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Times New Roman" pitchFamily="18" charset="0"/>
                        </a:rPr>
                        <a:t>다날</a:t>
                      </a:r>
                      <a:r>
                        <a:rPr kumimoji="1" lang="ko-KR" altLang="en-US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Times New Roman" pitchFamily="18" charset="0"/>
                        </a:rPr>
                        <a:t> 결제사업본부 </a:t>
                      </a:r>
                      <a:endParaRPr kumimoji="1" lang="en-US" altLang="ko-KR" sz="10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Times New Roman" pitchFamily="18" charset="0"/>
                      </a:endParaRPr>
                    </a:p>
                  </a:txBody>
                  <a:tcPr marL="35995" marR="35995" marT="17998" marB="17998"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>
                      <a:noFill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Rectangle 40"/>
          <p:cNvSpPr>
            <a:spLocks noChangeArrowheads="1"/>
          </p:cNvSpPr>
          <p:nvPr userDrawn="1"/>
        </p:nvSpPr>
        <p:spPr bwMode="auto">
          <a:xfrm>
            <a:off x="3564365" y="4325330"/>
            <a:ext cx="5942756" cy="5078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45715" rIns="91429" bIns="45715" anchor="ctr">
            <a:spAutoFit/>
          </a:bodyPr>
          <a:lstStyle/>
          <a:p>
            <a:pPr lvl="0" algn="r"/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본 문서의 저작권은 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㈜</a:t>
            </a:r>
            <a:r>
              <a:rPr lang="ko-KR" altLang="en-US" sz="900" dirty="0" err="1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다날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 소유이므로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사전 허가 없이 무단전재</a:t>
            </a:r>
            <a:r>
              <a:rPr lang="en-US" altLang="ko-KR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,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복사</a:t>
            </a:r>
            <a:r>
              <a:rPr lang="en-US" altLang="ko-KR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,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유출</a:t>
            </a:r>
            <a:r>
              <a:rPr lang="en-US" altLang="ko-KR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,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유포한 </a:t>
            </a:r>
            <a:endParaRPr lang="en-US" altLang="ko-KR" sz="900" dirty="0" smtClean="0">
              <a:solidFill>
                <a:schemeClr val="bg1">
                  <a:lumMod val="95000"/>
                </a:schemeClr>
              </a:solidFill>
              <a:latin typeface="맑은 고딕" pitchFamily="50" charset="-127"/>
              <a:ea typeface="맑은 고딕" pitchFamily="50" charset="-127"/>
              <a:sym typeface="Wingdings 3" pitchFamily="18" charset="2"/>
            </a:endParaRPr>
          </a:p>
          <a:p>
            <a:pPr lvl="0" algn="r"/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자는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이로 인하여 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발생한 당사의 </a:t>
            </a:r>
            <a:r>
              <a:rPr lang="ko-KR" altLang="en-US" sz="900" dirty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모든 불이익에 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대하여</a:t>
            </a:r>
            <a:r>
              <a:rPr lang="en-US" altLang="ko-KR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 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금전적 손해배상은 물론 관계법령에 의한 민</a:t>
            </a:r>
            <a:r>
              <a:rPr lang="en-US" altLang="ko-KR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.</a:t>
            </a:r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형사상의 </a:t>
            </a:r>
            <a:endParaRPr lang="en-US" altLang="ko-KR" sz="900" dirty="0" smtClean="0">
              <a:solidFill>
                <a:schemeClr val="bg1">
                  <a:lumMod val="95000"/>
                </a:schemeClr>
              </a:solidFill>
              <a:latin typeface="맑은 고딕" pitchFamily="50" charset="-127"/>
              <a:ea typeface="맑은 고딕" pitchFamily="50" charset="-127"/>
              <a:sym typeface="Wingdings 3" pitchFamily="18" charset="2"/>
            </a:endParaRPr>
          </a:p>
          <a:p>
            <a:pPr lvl="0" algn="r"/>
            <a:r>
              <a:rPr lang="ko-KR" altLang="en-US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처벌을 감수하여야 합니다</a:t>
            </a:r>
            <a:r>
              <a:rPr lang="en-US" altLang="ko-KR" sz="900" dirty="0" smtClean="0">
                <a:solidFill>
                  <a:schemeClr val="bg1">
                    <a:lumMod val="95000"/>
                  </a:schemeClr>
                </a:solidFill>
                <a:latin typeface="맑은 고딕" pitchFamily="50" charset="-127"/>
                <a:ea typeface="맑은 고딕" pitchFamily="50" charset="-127"/>
                <a:sym typeface="Wingdings 3" pitchFamily="18" charset="2"/>
              </a:rPr>
              <a:t>. </a:t>
            </a:r>
            <a:endParaRPr lang="en-US" altLang="ko-KR" sz="900" dirty="0">
              <a:solidFill>
                <a:schemeClr val="bg1">
                  <a:lumMod val="95000"/>
                </a:schemeClr>
              </a:solidFill>
              <a:latin typeface="맑은 고딕" pitchFamily="50" charset="-127"/>
              <a:ea typeface="맑은 고딕" pitchFamily="50" charset="-127"/>
              <a:sym typeface="Wingdings 3" pitchFamily="18" charset="2"/>
            </a:endParaRPr>
          </a:p>
        </p:txBody>
      </p:sp>
      <p:cxnSp>
        <p:nvCxnSpPr>
          <p:cNvPr id="34" name="직선 연결선 33"/>
          <p:cNvCxnSpPr/>
          <p:nvPr userDrawn="1"/>
        </p:nvCxnSpPr>
        <p:spPr>
          <a:xfrm>
            <a:off x="488950" y="4245757"/>
            <a:ext cx="89281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그룹 6"/>
          <p:cNvGrpSpPr/>
          <p:nvPr userDrawn="1"/>
        </p:nvGrpSpPr>
        <p:grpSpPr>
          <a:xfrm>
            <a:off x="513226" y="5615873"/>
            <a:ext cx="3239914" cy="864756"/>
            <a:chOff x="488950" y="5607781"/>
            <a:chExt cx="3239914" cy="864756"/>
          </a:xfrm>
        </p:grpSpPr>
        <p:sp>
          <p:nvSpPr>
            <p:cNvPr id="9" name="TextBox 8"/>
            <p:cNvSpPr txBox="1"/>
            <p:nvPr userDrawn="1"/>
          </p:nvSpPr>
          <p:spPr>
            <a:xfrm>
              <a:off x="488950" y="6133993"/>
              <a:ext cx="3239914" cy="3385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0" tIns="45715" rIns="91429" bIns="45715" anchor="ctr">
              <a:spAutoFit/>
            </a:bodyPr>
            <a:lstStyle>
              <a:defPPr>
                <a:defRPr lang="ko-KR"/>
              </a:defPPr>
              <a:lvl1pPr>
                <a:defRPr sz="800">
                  <a:solidFill>
                    <a:srgbClr val="75A4DD"/>
                  </a:solidFill>
                  <a:latin typeface="맑은 고딕" pitchFamily="50" charset="-127"/>
                  <a:ea typeface="맑은 고딕" pitchFamily="50" charset="-127"/>
                </a:defRPr>
              </a:lvl1pPr>
            </a:lstStyle>
            <a:p>
              <a:pPr algn="l"/>
              <a:r>
                <a:rPr kumimoji="1" lang="en-US" altLang="ko-KR" sz="800" kern="1200" baseline="0" dirty="0" smtClean="0">
                  <a:solidFill>
                    <a:schemeClr val="bg1">
                      <a:lumMod val="85000"/>
                    </a:schemeClr>
                  </a:solidFill>
                  <a:latin typeface="Calibri" pitchFamily="34" charset="0"/>
                  <a:ea typeface="맑은 고딕" pitchFamily="50" charset="-127"/>
                  <a:cs typeface="+mn-cs"/>
                </a:rPr>
                <a:t>Corporate Introduction @ DANAL Co., Ltd. All Rights Reserved.</a:t>
              </a:r>
              <a:r>
                <a:rPr kumimoji="1" lang="ko-KR" altLang="en-US" sz="800" kern="1200" baseline="0" dirty="0" smtClean="0">
                  <a:solidFill>
                    <a:schemeClr val="bg1">
                      <a:lumMod val="85000"/>
                    </a:schemeClr>
                  </a:solidFill>
                  <a:latin typeface="Calibri" pitchFamily="34" charset="0"/>
                  <a:ea typeface="맑은 고딕" pitchFamily="50" charset="-127"/>
                  <a:cs typeface="+mn-cs"/>
                </a:rPr>
                <a:t>              </a:t>
              </a:r>
              <a:endParaRPr kumimoji="1" lang="en-US" altLang="ko-KR" sz="800" kern="1200" baseline="0" dirty="0" smtClean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맑은 고딕" pitchFamily="50" charset="-127"/>
                <a:cs typeface="+mn-cs"/>
              </a:endParaRPr>
            </a:p>
            <a:p>
              <a:pPr algn="l"/>
              <a:r>
                <a:rPr kumimoji="1" lang="en-US" altLang="ko-KR" sz="800" kern="1200" baseline="0" dirty="0" smtClean="0">
                  <a:solidFill>
                    <a:schemeClr val="bg1">
                      <a:lumMod val="85000"/>
                    </a:schemeClr>
                  </a:solidFill>
                  <a:latin typeface="Calibri" pitchFamily="34" charset="0"/>
                  <a:ea typeface="맑은 고딕" pitchFamily="50" charset="-127"/>
                  <a:cs typeface="+mn-cs"/>
                </a:rPr>
                <a:t>Tel  031-697-1004     FAX 031-697-1461  </a:t>
              </a:r>
              <a:endParaRPr kumimoji="1" lang="ko-KR" altLang="en-US" sz="800" kern="1200" baseline="0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맑은 고딕" pitchFamily="50" charset="-127"/>
                <a:cs typeface="+mn-cs"/>
              </a:endParaRPr>
            </a:p>
          </p:txBody>
        </p:sp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 contras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9904" y="5607781"/>
              <a:ext cx="1242066" cy="475711"/>
            </a:xfrm>
            <a:prstGeom prst="rect">
              <a:avLst/>
            </a:prstGeom>
          </p:spPr>
        </p:pic>
      </p:grpSp>
      <p:sp>
        <p:nvSpPr>
          <p:cNvPr id="12" name="제목 7"/>
          <p:cNvSpPr txBox="1">
            <a:spLocks/>
          </p:cNvSpPr>
          <p:nvPr userDrawn="1"/>
        </p:nvSpPr>
        <p:spPr>
          <a:xfrm>
            <a:off x="620923" y="2123280"/>
            <a:ext cx="8894290" cy="693747"/>
          </a:xfrm>
          <a:prstGeom prst="rect">
            <a:avLst/>
          </a:prstGeom>
        </p:spPr>
        <p:txBody>
          <a:bodyPr/>
          <a:lstStyle/>
          <a:p>
            <a:pPr lvl="0" algn="r">
              <a:lnSpc>
                <a:spcPct val="120000"/>
              </a:lnSpc>
              <a:defRPr/>
            </a:pPr>
            <a:r>
              <a:rPr kumimoji="0" lang="ko-KR" altLang="en-US" sz="3400" b="1" kern="1200" baseline="0" noProof="0" dirty="0" err="1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서브몰</a:t>
            </a:r>
            <a:r>
              <a:rPr kumimoji="0" lang="ko-KR" altLang="en-US" sz="340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 등록</a:t>
            </a:r>
            <a:r>
              <a:rPr kumimoji="0" lang="en-US" altLang="ko-KR" sz="340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/>
            </a:r>
            <a:br>
              <a:rPr kumimoji="0" lang="en-US" altLang="ko-KR" sz="340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</a:br>
            <a:r>
              <a:rPr kumimoji="0" lang="en-US" altLang="ko-KR" sz="4400" b="1" kern="1200" baseline="0" noProof="0" dirty="0" smtClean="0">
                <a:solidFill>
                  <a:schemeClr val="bg1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  <a:endParaRPr kumimoji="0" lang="ko-KR" altLang="en-US" sz="4400" b="1" kern="1200" noProof="0" dirty="0" smtClean="0">
              <a:solidFill>
                <a:schemeClr val="bg1"/>
              </a:solidFill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  <p:sp>
        <p:nvSpPr>
          <p:cNvPr id="33" name="텍스트 개체 틀 32"/>
          <p:cNvSpPr>
            <a:spLocks noGrp="1"/>
          </p:cNvSpPr>
          <p:nvPr>
            <p:ph type="body" sz="quarter" idx="10" hasCustomPrompt="1"/>
          </p:nvPr>
        </p:nvSpPr>
        <p:spPr>
          <a:xfrm>
            <a:off x="3493539" y="1412776"/>
            <a:ext cx="6041334" cy="784891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kumimoji="0" lang="ko-KR" altLang="en-US" sz="4700" b="1" kern="1200" baseline="0" dirty="0" smtClean="0">
                <a:solidFill>
                  <a:srgbClr val="525252"/>
                </a:solidFill>
                <a:latin typeface="+mn-ea"/>
                <a:ea typeface="+mn-ea"/>
                <a:cs typeface="Arial" pitchFamily="34" charset="0"/>
              </a:defRPr>
            </a:lvl1pPr>
          </a:lstStyle>
          <a:p>
            <a:pPr lvl="0"/>
            <a:r>
              <a:rPr lang="ko-KR" altLang="en-US" dirty="0" err="1" smtClean="0"/>
              <a:t>업체명</a:t>
            </a:r>
            <a:endParaRPr lang="ko-KR" altLang="en-US" dirty="0" smtClean="0"/>
          </a:p>
        </p:txBody>
      </p:sp>
      <p:sp>
        <p:nvSpPr>
          <p:cNvPr id="35" name="제목 7"/>
          <p:cNvSpPr txBox="1">
            <a:spLocks/>
          </p:cNvSpPr>
          <p:nvPr userDrawn="1"/>
        </p:nvSpPr>
        <p:spPr>
          <a:xfrm>
            <a:off x="6535743" y="3445077"/>
            <a:ext cx="2971377" cy="693747"/>
          </a:xfrm>
          <a:prstGeom prst="rect">
            <a:avLst/>
          </a:prstGeom>
        </p:spPr>
        <p:txBody>
          <a:bodyPr/>
          <a:lstStyle/>
          <a:p>
            <a:pPr lvl="0" algn="r">
              <a:lnSpc>
                <a:spcPct val="120000"/>
              </a:lnSpc>
              <a:defRPr/>
            </a:pPr>
            <a:r>
              <a:rPr kumimoji="0" lang="ko-KR" altLang="en-US" sz="215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결제 프로세스</a:t>
            </a:r>
            <a:r>
              <a:rPr kumimoji="0" lang="en-US" altLang="ko-KR" sz="215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(</a:t>
            </a:r>
            <a:r>
              <a:rPr kumimoji="0" lang="ko-KR" altLang="en-US" sz="215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경로</a:t>
            </a:r>
            <a:r>
              <a:rPr kumimoji="0" lang="en-US" altLang="ko-KR" sz="2150" b="1" kern="1200" baseline="0" noProof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rPr>
              <a:t>) </a:t>
            </a:r>
            <a:endParaRPr kumimoji="0" lang="ko-KR" altLang="en-US" sz="2150" b="1" kern="1200" baseline="0" noProof="0" dirty="0" smtClean="0">
              <a:solidFill>
                <a:schemeClr val="bg1"/>
              </a:solidFill>
              <a:latin typeface="+mn-ea"/>
              <a:ea typeface="+mn-ea"/>
              <a:cs typeface="Arial" pitchFamily="34" charset="0"/>
            </a:endParaRPr>
          </a:p>
        </p:txBody>
      </p:sp>
      <p:sp>
        <p:nvSpPr>
          <p:cNvPr id="36" name="텍스트 개체 틀 32"/>
          <p:cNvSpPr>
            <a:spLocks noGrp="1"/>
          </p:cNvSpPr>
          <p:nvPr>
            <p:ph type="body" sz="quarter" idx="11" hasCustomPrompt="1"/>
          </p:nvPr>
        </p:nvSpPr>
        <p:spPr>
          <a:xfrm>
            <a:off x="7686902" y="5530203"/>
            <a:ext cx="1558145" cy="27210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kumimoji="0" lang="ko-KR" altLang="en-US" sz="1000" b="0" kern="1200" baseline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defRPr>
            </a:lvl1pPr>
          </a:lstStyle>
          <a:p>
            <a:pPr lvl="0"/>
            <a:r>
              <a:rPr lang="ko-KR" altLang="en-US" dirty="0" smtClean="0"/>
              <a:t>날짜기입</a:t>
            </a:r>
          </a:p>
        </p:txBody>
      </p:sp>
      <p:sp>
        <p:nvSpPr>
          <p:cNvPr id="37" name="텍스트 개체 틀 32"/>
          <p:cNvSpPr>
            <a:spLocks noGrp="1"/>
          </p:cNvSpPr>
          <p:nvPr>
            <p:ph type="body" sz="quarter" idx="12" hasCustomPrompt="1"/>
          </p:nvPr>
        </p:nvSpPr>
        <p:spPr>
          <a:xfrm>
            <a:off x="7686902" y="5870069"/>
            <a:ext cx="1558145" cy="27210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kumimoji="0" lang="ko-KR" altLang="en-US" sz="1000" b="0" kern="1200" baseline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defRPr>
            </a:lvl1pPr>
          </a:lstStyle>
          <a:p>
            <a:pPr lvl="0"/>
            <a:r>
              <a:rPr lang="ko-KR" altLang="en-US" dirty="0" smtClean="0"/>
              <a:t>담당자명</a:t>
            </a:r>
          </a:p>
        </p:txBody>
      </p:sp>
      <p:sp>
        <p:nvSpPr>
          <p:cNvPr id="38" name="텍스트 개체 틀 32"/>
          <p:cNvSpPr>
            <a:spLocks noGrp="1"/>
          </p:cNvSpPr>
          <p:nvPr>
            <p:ph type="body" sz="quarter" idx="13" hasCustomPrompt="1"/>
          </p:nvPr>
        </p:nvSpPr>
        <p:spPr>
          <a:xfrm>
            <a:off x="3480472" y="3879217"/>
            <a:ext cx="5936578" cy="28604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kumimoji="0" lang="ko-KR" altLang="en-US" sz="1250" b="0" kern="1200" baseline="0" dirty="0" smtClean="0">
                <a:solidFill>
                  <a:schemeClr val="bg1"/>
                </a:solidFill>
                <a:latin typeface="+mn-ea"/>
                <a:ea typeface="+mn-ea"/>
                <a:cs typeface="Arial" pitchFamily="34" charset="0"/>
              </a:defRPr>
            </a:lvl1pPr>
          </a:lstStyle>
          <a:p>
            <a:pPr lvl="0"/>
            <a:r>
              <a:rPr lang="ko-KR" altLang="en-US" dirty="0" smtClean="0"/>
              <a:t>사이트주소기입</a:t>
            </a:r>
          </a:p>
        </p:txBody>
      </p:sp>
    </p:spTree>
    <p:extLst>
      <p:ext uri="{BB962C8B-B14F-4D97-AF65-F5344CB8AC3E}">
        <p14:creationId xmlns:p14="http://schemas.microsoft.com/office/powerpoint/2010/main" val="302022853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ex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>
            <a:off x="1136576" y="2643969"/>
            <a:ext cx="2520280" cy="7200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lvl="0" algn="ctr"/>
            <a:endParaRPr lang="ko-KR" altLang="en-US" sz="900" dirty="0"/>
          </a:p>
        </p:txBody>
      </p:sp>
      <p:sp>
        <p:nvSpPr>
          <p:cNvPr id="6" name="제목 2"/>
          <p:cNvSpPr>
            <a:spLocks noGrp="1"/>
          </p:cNvSpPr>
          <p:nvPr>
            <p:ph type="title"/>
          </p:nvPr>
        </p:nvSpPr>
        <p:spPr>
          <a:xfrm>
            <a:off x="1120946" y="2715977"/>
            <a:ext cx="4961756" cy="424991"/>
          </a:xfrm>
          <a:prstGeom prst="rect">
            <a:avLst/>
          </a:prstGeom>
          <a:noFill/>
        </p:spPr>
        <p:txBody>
          <a:bodyPr wrap="none" lIns="0" rIns="0" rtlCol="0" anchor="t">
            <a:noAutofit/>
          </a:bodyPr>
          <a:lstStyle>
            <a:lvl1pPr>
              <a:defRPr lang="ko-KR" altLang="en-US" sz="3600" b="1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맑은 고딕" pitchFamily="50" charset="-127"/>
                <a:cs typeface="+mn-cs"/>
              </a:defRPr>
            </a:lvl1pPr>
          </a:lstStyle>
          <a:p>
            <a:pPr lvl="0" defTabSz="957263">
              <a:lnSpc>
                <a:spcPts val="2000"/>
              </a:lnSpc>
            </a:pPr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21181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dex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>
            <a:off x="1136576" y="2643969"/>
            <a:ext cx="2520280" cy="7200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lvl="0" algn="ctr"/>
            <a:endParaRPr lang="ko-KR" altLang="en-US" sz="900" dirty="0"/>
          </a:p>
        </p:txBody>
      </p:sp>
      <p:sp>
        <p:nvSpPr>
          <p:cNvPr id="4" name="제목 7"/>
          <p:cNvSpPr txBox="1">
            <a:spLocks/>
          </p:cNvSpPr>
          <p:nvPr userDrawn="1"/>
        </p:nvSpPr>
        <p:spPr>
          <a:xfrm>
            <a:off x="1037421" y="3124524"/>
            <a:ext cx="8894290" cy="693747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20000"/>
              </a:lnSpc>
              <a:defRPr/>
            </a:pPr>
            <a:r>
              <a:rPr kumimoji="0" lang="en-US" altLang="ko-KR" sz="5400" b="1" kern="1200" baseline="0" noProof="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n-ea"/>
                <a:cs typeface="Arial" pitchFamily="34" charset="0"/>
              </a:rPr>
              <a:t>ISP</a:t>
            </a:r>
            <a:br>
              <a:rPr kumimoji="0" lang="en-US" altLang="ko-KR" sz="5400" b="1" kern="1200" baseline="0" noProof="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n-ea"/>
                <a:cs typeface="Arial" pitchFamily="34" charset="0"/>
              </a:rPr>
            </a:br>
            <a:r>
              <a:rPr kumimoji="0" lang="en-US" altLang="ko-KR" sz="4400" b="1" kern="1200" baseline="0" noProof="0" dirty="0" smtClean="0">
                <a:solidFill>
                  <a:srgbClr val="39557F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  <a:endParaRPr kumimoji="0" lang="ko-KR" altLang="en-US" sz="4400" b="1" kern="1200" noProof="0" dirty="0" smtClean="0">
              <a:solidFill>
                <a:srgbClr val="39557F"/>
              </a:solidFill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97462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dex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>
            <a:off x="1136576" y="2643969"/>
            <a:ext cx="2520280" cy="72008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lvl="0" algn="ctr"/>
            <a:endParaRPr lang="ko-KR" altLang="en-US" sz="900" dirty="0"/>
          </a:p>
        </p:txBody>
      </p:sp>
      <p:sp>
        <p:nvSpPr>
          <p:cNvPr id="4" name="제목 7"/>
          <p:cNvSpPr txBox="1">
            <a:spLocks/>
          </p:cNvSpPr>
          <p:nvPr userDrawn="1"/>
        </p:nvSpPr>
        <p:spPr>
          <a:xfrm>
            <a:off x="1037421" y="3124524"/>
            <a:ext cx="8894290" cy="693747"/>
          </a:xfrm>
          <a:prstGeom prst="rect">
            <a:avLst/>
          </a:prstGeom>
        </p:spPr>
        <p:txBody>
          <a:bodyPr anchor="ctr"/>
          <a:lstStyle/>
          <a:p>
            <a:pPr lvl="0" algn="l">
              <a:lnSpc>
                <a:spcPct val="120000"/>
              </a:lnSpc>
              <a:defRPr/>
            </a:pPr>
            <a:r>
              <a:rPr kumimoji="0" lang="ko-KR" altLang="en-US" sz="3400" b="1" kern="1200" baseline="0" noProof="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Arial" pitchFamily="34" charset="0"/>
              </a:rPr>
              <a:t>안심클릭</a:t>
            </a:r>
            <a:r>
              <a:rPr kumimoji="0" lang="en-US" altLang="ko-KR" sz="3400" b="1" kern="1200" baseline="0" noProof="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Arial" pitchFamily="34" charset="0"/>
              </a:rPr>
              <a:t/>
            </a:r>
            <a:br>
              <a:rPr kumimoji="0" lang="en-US" altLang="ko-KR" sz="3400" b="1" kern="1200" baseline="0" noProof="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Arial" pitchFamily="34" charset="0"/>
              </a:rPr>
            </a:br>
            <a:r>
              <a:rPr kumimoji="0" lang="en-US" altLang="ko-KR" sz="4400" b="1" kern="1200" baseline="0" noProof="0" dirty="0" smtClean="0">
                <a:solidFill>
                  <a:srgbClr val="39557F"/>
                </a:solidFill>
                <a:latin typeface="Arial" pitchFamily="34" charset="0"/>
                <a:ea typeface="굴림" pitchFamily="50" charset="-127"/>
                <a:cs typeface="Arial" pitchFamily="34" charset="0"/>
              </a:rPr>
              <a:t> </a:t>
            </a:r>
            <a:endParaRPr kumimoji="0" lang="ko-KR" altLang="en-US" sz="4400" b="1" kern="1200" noProof="0" dirty="0" smtClean="0">
              <a:solidFill>
                <a:srgbClr val="39557F"/>
              </a:solidFill>
              <a:latin typeface="Arial" pitchFamily="34" charset="0"/>
              <a:ea typeface="굴림" pitchFamily="50" charset="-127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6396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rt 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471855" y="52439"/>
            <a:ext cx="4961756" cy="1023742"/>
          </a:xfrm>
          <a:prstGeom prst="rect">
            <a:avLst/>
          </a:prstGeom>
          <a:noFill/>
        </p:spPr>
        <p:txBody>
          <a:bodyPr wrap="none" lIns="0" rIns="0" rtlCol="0" anchor="t">
            <a:noAutofit/>
          </a:bodyPr>
          <a:lstStyle>
            <a:lvl1pPr>
              <a:defRPr lang="ko-KR" altLang="en-US" sz="2800" b="1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맑은 고딕" pitchFamily="50" charset="-127"/>
                <a:cs typeface="+mn-cs"/>
              </a:defRPr>
            </a:lvl1pPr>
          </a:lstStyle>
          <a:p>
            <a:pPr lvl="0" defTabSz="957263">
              <a:lnSpc>
                <a:spcPts val="2000"/>
              </a:lnSpc>
            </a:pPr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6" name="직사각형 5"/>
          <p:cNvSpPr/>
          <p:nvPr userDrawn="1"/>
        </p:nvSpPr>
        <p:spPr>
          <a:xfrm>
            <a:off x="488950" y="0"/>
            <a:ext cx="1871762" cy="581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lvl="0" algn="ctr"/>
            <a:endParaRPr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131920108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rt 2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471855" y="225968"/>
            <a:ext cx="4961756" cy="1023742"/>
          </a:xfrm>
          <a:prstGeom prst="rect">
            <a:avLst/>
          </a:prstGeom>
          <a:noFill/>
        </p:spPr>
        <p:txBody>
          <a:bodyPr wrap="none" lIns="0" rIns="0" rtlCol="0" anchor="t">
            <a:noAutofit/>
          </a:bodyPr>
          <a:lstStyle>
            <a:lvl1pPr algn="l" defTabSz="957263" rtl="0" fontAlgn="base" latinLnBrk="1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kumimoji="1" lang="ko-KR" altLang="en-US" sz="2800" b="1" kern="12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맑은 고딕" pitchFamily="50" charset="-127"/>
                <a:cs typeface="+mn-cs"/>
              </a:defRPr>
            </a:lvl1pPr>
          </a:lstStyle>
          <a:p>
            <a:pPr lvl="0" defTabSz="957263">
              <a:lnSpc>
                <a:spcPts val="2000"/>
              </a:lnSpc>
            </a:pPr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6" name="직사각형 5"/>
          <p:cNvSpPr/>
          <p:nvPr userDrawn="1"/>
        </p:nvSpPr>
        <p:spPr>
          <a:xfrm>
            <a:off x="488950" y="0"/>
            <a:ext cx="1871762" cy="581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lvl="0" algn="ctr"/>
            <a:endParaRPr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229123648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n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 userDrawn="1"/>
        </p:nvSpPr>
        <p:spPr>
          <a:xfrm>
            <a:off x="210345" y="1721508"/>
            <a:ext cx="8819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전체 구조도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421945" y="2286138"/>
            <a:ext cx="45877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ko-KR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Gate</a:t>
            </a:r>
            <a:endParaRPr lang="ko-KR" altLang="en-US" sz="1100" dirty="0" smtClean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직사각형 12"/>
          <p:cNvSpPr/>
          <p:nvPr userDrawn="1"/>
        </p:nvSpPr>
        <p:spPr>
          <a:xfrm>
            <a:off x="409921" y="2850768"/>
            <a:ext cx="48282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단지 </a:t>
            </a:r>
          </a:p>
        </p:txBody>
      </p:sp>
      <p:sp>
        <p:nvSpPr>
          <p:cNvPr id="14" name="직사각형 13"/>
          <p:cNvSpPr/>
          <p:nvPr userDrawn="1"/>
        </p:nvSpPr>
        <p:spPr>
          <a:xfrm>
            <a:off x="425953" y="3415398"/>
            <a:ext cx="45076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가구</a:t>
            </a:r>
          </a:p>
        </p:txBody>
      </p:sp>
      <p:sp>
        <p:nvSpPr>
          <p:cNvPr id="15" name="직사각형 14"/>
          <p:cNvSpPr/>
          <p:nvPr userDrawn="1"/>
        </p:nvSpPr>
        <p:spPr>
          <a:xfrm>
            <a:off x="425954" y="3980028"/>
            <a:ext cx="45076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가전</a:t>
            </a:r>
          </a:p>
        </p:txBody>
      </p:sp>
      <p:sp>
        <p:nvSpPr>
          <p:cNvPr id="16" name="직사각형 15"/>
          <p:cNvSpPr/>
          <p:nvPr userDrawn="1"/>
        </p:nvSpPr>
        <p:spPr>
          <a:xfrm>
            <a:off x="249626" y="5396221"/>
            <a:ext cx="803426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기기정보</a:t>
            </a:r>
            <a:endParaRPr lang="en-US" altLang="ko-KR" sz="1100" dirty="0" smtClean="0">
              <a:solidFill>
                <a:schemeClr val="bg1"/>
              </a:solidFill>
              <a:latin typeface="Calibri" panose="020F0502020204030204" pitchFamily="34" charset="0"/>
            </a:endParaRPr>
          </a:p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등록 </a:t>
            </a:r>
            <a:r>
              <a:rPr lang="en-US" altLang="ko-KR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/</a:t>
            </a:r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편집</a:t>
            </a:r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308161" y="2125724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/>
          <p:cNvCxnSpPr/>
          <p:nvPr userDrawn="1"/>
        </p:nvCxnSpPr>
        <p:spPr>
          <a:xfrm>
            <a:off x="308161" y="2663135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 userDrawn="1"/>
        </p:nvCxnSpPr>
        <p:spPr>
          <a:xfrm>
            <a:off x="308161" y="3264713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 userDrawn="1"/>
        </p:nvCxnSpPr>
        <p:spPr>
          <a:xfrm>
            <a:off x="308161" y="3802124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 userDrawn="1"/>
        </p:nvCxnSpPr>
        <p:spPr>
          <a:xfrm>
            <a:off x="308161" y="4387661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 userDrawn="1"/>
        </p:nvCxnSpPr>
        <p:spPr>
          <a:xfrm>
            <a:off x="308161" y="5302061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 userDrawn="1"/>
        </p:nvCxnSpPr>
        <p:spPr>
          <a:xfrm>
            <a:off x="308161" y="5895619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/>
          <p:cNvCxnSpPr/>
          <p:nvPr userDrawn="1"/>
        </p:nvCxnSpPr>
        <p:spPr>
          <a:xfrm>
            <a:off x="221705" y="109702"/>
            <a:ext cx="0" cy="400097"/>
          </a:xfrm>
          <a:prstGeom prst="line">
            <a:avLst/>
          </a:prstGeom>
          <a:ln w="28575">
            <a:solidFill>
              <a:srgbClr val="39557F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텍스트 개체 틀 32"/>
          <p:cNvSpPr>
            <a:spLocks noGrp="1"/>
          </p:cNvSpPr>
          <p:nvPr>
            <p:ph type="body" sz="quarter" idx="11" hasCustomPrompt="1"/>
          </p:nvPr>
        </p:nvSpPr>
        <p:spPr>
          <a:xfrm>
            <a:off x="182118" y="168365"/>
            <a:ext cx="9523410" cy="27210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buNone/>
              <a:defRPr lang="ko-KR" altLang="en-US" sz="2000" b="1" kern="1200" dirty="0" smtClean="0">
                <a:solidFill>
                  <a:srgbClr val="39557F"/>
                </a:solidFill>
                <a:latin typeface="Calibri" panose="020F0502020204030204" pitchFamily="34" charset="0"/>
                <a:ea typeface="맑은 고딕" pitchFamily="50" charset="-127"/>
                <a:cs typeface="+mn-cs"/>
              </a:defRPr>
            </a:lvl1pPr>
          </a:lstStyle>
          <a:p>
            <a:pPr lvl="0"/>
            <a:r>
              <a:rPr lang="en-US" altLang="ko-KR" dirty="0" smtClean="0"/>
              <a:t>TITLE</a:t>
            </a:r>
            <a:endParaRPr lang="ko-KR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297647212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9906000" cy="590550"/>
            <a:chOff x="0" y="0"/>
            <a:chExt cx="9906000" cy="1125538"/>
          </a:xfrm>
        </p:grpSpPr>
        <p:sp>
          <p:nvSpPr>
            <p:cNvPr id="3" name="직사각형 2"/>
            <p:cNvSpPr/>
            <p:nvPr userDrawn="1"/>
          </p:nvSpPr>
          <p:spPr>
            <a:xfrm>
              <a:off x="0" y="0"/>
              <a:ext cx="9906000" cy="1125538"/>
            </a:xfrm>
            <a:prstGeom prst="rect">
              <a:avLst/>
            </a:prstGeom>
            <a:pattFill prst="ltDnDiag">
              <a:fgClr>
                <a:schemeClr val="accent1">
                  <a:lumMod val="60000"/>
                  <a:lumOff val="40000"/>
                </a:schemeClr>
              </a:fgClr>
              <a:bgClr>
                <a:srgbClr val="A9C6E9"/>
              </a:bgClr>
            </a:pattFill>
            <a:ln w="3175" cap="sq">
              <a:noFill/>
              <a:prstDash val="solid"/>
              <a:miter lim="800000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none" lIns="36000" tIns="45720" rIns="360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150000"/>
                </a:lnSpc>
              </a:pPr>
              <a:endParaRPr lang="ko-KR" altLang="en-US" sz="1200" b="1" i="1" smtClean="0">
                <a:solidFill>
                  <a:schemeClr val="bg1"/>
                </a:solidFill>
                <a:latin typeface="Calibri" pitchFamily="34" charset="0"/>
                <a:ea typeface="나눔고딕" pitchFamily="50" charset="-127"/>
              </a:endParaRPr>
            </a:p>
          </p:txBody>
        </p:sp>
        <p:cxnSp>
          <p:nvCxnSpPr>
            <p:cNvPr id="4" name="직선 연결선 3"/>
            <p:cNvCxnSpPr/>
            <p:nvPr userDrawn="1"/>
          </p:nvCxnSpPr>
          <p:spPr>
            <a:xfrm>
              <a:off x="9772650" y="564922"/>
              <a:ext cx="133350" cy="0"/>
            </a:xfrm>
            <a:prstGeom prst="line">
              <a:avLst/>
            </a:prstGeom>
            <a:ln w="3175" cap="sq">
              <a:solidFill>
                <a:schemeClr val="bg1"/>
              </a:solidFill>
              <a:prstDash val="sysDot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텍스트 개체 틀 32"/>
          <p:cNvSpPr>
            <a:spLocks noGrp="1"/>
          </p:cNvSpPr>
          <p:nvPr>
            <p:ph type="body" sz="quarter" idx="11" hasCustomPrompt="1"/>
          </p:nvPr>
        </p:nvSpPr>
        <p:spPr>
          <a:xfrm>
            <a:off x="266086" y="139176"/>
            <a:ext cx="9438828" cy="27210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buNone/>
              <a:defRPr lang="ko-KR" altLang="en-US" sz="2400" b="1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  <a:cs typeface="+mn-cs"/>
              </a:defRPr>
            </a:lvl1pPr>
          </a:lstStyle>
          <a:p>
            <a:pPr lvl="0"/>
            <a:r>
              <a:rPr lang="en-US" altLang="ko-KR" dirty="0" smtClean="0"/>
              <a:t>TITLE</a:t>
            </a:r>
            <a:endParaRPr lang="ko-KR" altLang="en-US" dirty="0" smtClean="0"/>
          </a:p>
        </p:txBody>
      </p:sp>
      <p:sp>
        <p:nvSpPr>
          <p:cNvPr id="9" name="직사각형 8"/>
          <p:cNvSpPr/>
          <p:nvPr userDrawn="1"/>
        </p:nvSpPr>
        <p:spPr>
          <a:xfrm>
            <a:off x="-9525" y="49957"/>
            <a:ext cx="209550" cy="492968"/>
          </a:xfrm>
          <a:prstGeom prst="rect">
            <a:avLst/>
          </a:prstGeom>
          <a:pattFill prst="ltDnDiag">
            <a:fgClr>
              <a:srgbClr val="2B578D"/>
            </a:fgClr>
            <a:bgClr>
              <a:schemeClr val="accent1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244302" y="54521"/>
            <a:ext cx="0" cy="478879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6319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mon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 userDrawn="1"/>
        </p:nvSpPr>
        <p:spPr>
          <a:xfrm>
            <a:off x="221907" y="631178"/>
            <a:ext cx="4752359" cy="606902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71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42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13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684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855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026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198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369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000" dirty="0" smtClean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210345" y="1721508"/>
            <a:ext cx="8819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전체 구조도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421945" y="2286138"/>
            <a:ext cx="45877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ko-KR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Gate</a:t>
            </a:r>
            <a:endParaRPr lang="ko-KR" altLang="en-US" sz="1100" dirty="0" smtClean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직사각형 12"/>
          <p:cNvSpPr/>
          <p:nvPr userDrawn="1"/>
        </p:nvSpPr>
        <p:spPr>
          <a:xfrm>
            <a:off x="409921" y="2850768"/>
            <a:ext cx="48282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단지 </a:t>
            </a:r>
          </a:p>
        </p:txBody>
      </p:sp>
      <p:sp>
        <p:nvSpPr>
          <p:cNvPr id="14" name="직사각형 13"/>
          <p:cNvSpPr/>
          <p:nvPr userDrawn="1"/>
        </p:nvSpPr>
        <p:spPr>
          <a:xfrm>
            <a:off x="425953" y="3415398"/>
            <a:ext cx="45076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가구</a:t>
            </a:r>
          </a:p>
        </p:txBody>
      </p:sp>
      <p:sp>
        <p:nvSpPr>
          <p:cNvPr id="15" name="직사각형 14"/>
          <p:cNvSpPr/>
          <p:nvPr userDrawn="1"/>
        </p:nvSpPr>
        <p:spPr>
          <a:xfrm>
            <a:off x="425954" y="3980028"/>
            <a:ext cx="45076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가전</a:t>
            </a:r>
          </a:p>
        </p:txBody>
      </p:sp>
      <p:sp>
        <p:nvSpPr>
          <p:cNvPr id="16" name="직사각형 15"/>
          <p:cNvSpPr/>
          <p:nvPr userDrawn="1"/>
        </p:nvSpPr>
        <p:spPr>
          <a:xfrm>
            <a:off x="249626" y="5396221"/>
            <a:ext cx="803426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기기정보</a:t>
            </a:r>
            <a:endParaRPr lang="en-US" altLang="ko-KR" sz="1100" dirty="0" smtClean="0">
              <a:solidFill>
                <a:schemeClr val="bg1"/>
              </a:solidFill>
              <a:latin typeface="Calibri" panose="020F0502020204030204" pitchFamily="34" charset="0"/>
            </a:endParaRPr>
          </a:p>
          <a:p>
            <a:pPr algn="ctr"/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등록 </a:t>
            </a:r>
            <a:r>
              <a:rPr lang="en-US" altLang="ko-KR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/</a:t>
            </a:r>
            <a:r>
              <a:rPr lang="ko-KR" altLang="en-US" sz="1100" dirty="0" smtClean="0">
                <a:solidFill>
                  <a:schemeClr val="bg1"/>
                </a:solidFill>
                <a:latin typeface="Calibri" panose="020F0502020204030204" pitchFamily="34" charset="0"/>
              </a:rPr>
              <a:t>편집</a:t>
            </a:r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308161" y="2125724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/>
          <p:cNvCxnSpPr/>
          <p:nvPr userDrawn="1"/>
        </p:nvCxnSpPr>
        <p:spPr>
          <a:xfrm>
            <a:off x="308161" y="2663135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 userDrawn="1"/>
        </p:nvCxnSpPr>
        <p:spPr>
          <a:xfrm>
            <a:off x="308161" y="3264713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 userDrawn="1"/>
        </p:nvCxnSpPr>
        <p:spPr>
          <a:xfrm>
            <a:off x="308161" y="3802124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 userDrawn="1"/>
        </p:nvCxnSpPr>
        <p:spPr>
          <a:xfrm>
            <a:off x="308161" y="4387661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 userDrawn="1"/>
        </p:nvCxnSpPr>
        <p:spPr>
          <a:xfrm>
            <a:off x="308161" y="5302061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 userDrawn="1"/>
        </p:nvCxnSpPr>
        <p:spPr>
          <a:xfrm>
            <a:off x="308161" y="5895619"/>
            <a:ext cx="670407" cy="0"/>
          </a:xfrm>
          <a:prstGeom prst="line">
            <a:avLst/>
          </a:prstGeom>
          <a:ln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/>
          <p:cNvCxnSpPr/>
          <p:nvPr userDrawn="1"/>
        </p:nvCxnSpPr>
        <p:spPr>
          <a:xfrm>
            <a:off x="221705" y="109702"/>
            <a:ext cx="0" cy="400097"/>
          </a:xfrm>
          <a:prstGeom prst="line">
            <a:avLst/>
          </a:prstGeom>
          <a:ln w="28575">
            <a:solidFill>
              <a:srgbClr val="39557F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텍스트 개체 틀 32"/>
          <p:cNvSpPr>
            <a:spLocks noGrp="1"/>
          </p:cNvSpPr>
          <p:nvPr>
            <p:ph type="body" sz="quarter" idx="11" hasCustomPrompt="1"/>
          </p:nvPr>
        </p:nvSpPr>
        <p:spPr>
          <a:xfrm>
            <a:off x="182118" y="168365"/>
            <a:ext cx="1992853" cy="27210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1" hangingPunct="1">
              <a:buNone/>
              <a:defRPr lang="ko-KR" altLang="en-US" sz="2000" b="1" kern="1200" dirty="0" smtClean="0">
                <a:solidFill>
                  <a:srgbClr val="39557F"/>
                </a:solidFill>
                <a:latin typeface="Calibri" panose="020F0502020204030204" pitchFamily="34" charset="0"/>
                <a:ea typeface="맑은 고딕" pitchFamily="50" charset="-127"/>
                <a:cs typeface="+mn-cs"/>
              </a:defRPr>
            </a:lvl1pPr>
          </a:lstStyle>
          <a:p>
            <a:pPr lvl="0"/>
            <a:r>
              <a:rPr lang="en-US" altLang="ko-KR" dirty="0" smtClean="0"/>
              <a:t>TITLE</a:t>
            </a:r>
            <a:endParaRPr lang="ko-KR" altLang="en-US" dirty="0" smtClean="0"/>
          </a:p>
        </p:txBody>
      </p:sp>
      <p:sp>
        <p:nvSpPr>
          <p:cNvPr id="18" name="직사각형 17"/>
          <p:cNvSpPr/>
          <p:nvPr userDrawn="1"/>
        </p:nvSpPr>
        <p:spPr>
          <a:xfrm>
            <a:off x="5060607" y="631178"/>
            <a:ext cx="4752359" cy="606902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71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42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13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684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855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026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198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369" algn="l" defTabSz="914342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000" dirty="0" smtClean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633081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cription: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ko-KR" altLang="en-US" sz="1000" b="1" dirty="0" smtClean="0">
              <a:solidFill>
                <a:schemeClr val="bg1"/>
              </a:solidFill>
            </a:endParaRPr>
          </a:p>
        </p:txBody>
      </p:sp>
      <p:sp>
        <p:nvSpPr>
          <p:cNvPr id="7" name="제목 1"/>
          <p:cNvSpPr>
            <a:spLocks noGrp="1"/>
          </p:cNvSpPr>
          <p:nvPr>
            <p:ph type="title"/>
          </p:nvPr>
        </p:nvSpPr>
        <p:spPr>
          <a:xfrm>
            <a:off x="250766" y="2599089"/>
            <a:ext cx="7006490" cy="1143000"/>
          </a:xfrm>
          <a:prstGeom prst="rect">
            <a:avLst/>
          </a:prstGeom>
        </p:spPr>
        <p:txBody>
          <a:bodyPr wrap="none" lIns="0" tIns="0" rIns="0" anchor="ctr"/>
          <a:lstStyle>
            <a:lvl1pPr>
              <a:defRPr sz="2800" b="1" baseline="0">
                <a:solidFill>
                  <a:schemeClr val="tx1">
                    <a:lumMod val="85000"/>
                    <a:lumOff val="15000"/>
                  </a:schemeClr>
                </a:solidFill>
                <a:latin typeface="Calibri" pitchFamily="34" charset="0"/>
                <a:ea typeface="맑은 고딕" pitchFamily="50" charset="-127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280237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i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 userDrawn="1"/>
        </p:nvSpPr>
        <p:spPr>
          <a:xfrm>
            <a:off x="2288704" y="2852936"/>
            <a:ext cx="54726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0" b="1" dirty="0" smtClean="0">
                <a:solidFill>
                  <a:schemeClr val="bg1">
                    <a:lumMod val="65000"/>
                  </a:schemeClr>
                </a:solidFill>
                <a:latin typeface="Calibri" pitchFamily="34" charset="0"/>
                <a:cs typeface="Calibri" pitchFamily="34" charset="0"/>
              </a:rPr>
              <a:t>Thank</a:t>
            </a:r>
            <a:r>
              <a:rPr lang="en-US" altLang="ko-KR" sz="7000" b="1" baseline="0" dirty="0" smtClean="0">
                <a:solidFill>
                  <a:schemeClr val="bg1">
                    <a:lumMod val="65000"/>
                  </a:schemeClr>
                </a:solidFill>
                <a:latin typeface="Calibri" pitchFamily="34" charset="0"/>
                <a:cs typeface="Calibri" pitchFamily="34" charset="0"/>
              </a:rPr>
              <a:t> you</a:t>
            </a:r>
            <a:endParaRPr lang="ko-KR" altLang="en-US" sz="7000" b="1" dirty="0">
              <a:solidFill>
                <a:schemeClr val="bg1">
                  <a:lumMod val="65000"/>
                </a:schemeClr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0" y="6309320"/>
            <a:ext cx="9906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b="0" i="0" u="none" strike="noStrike" kern="1200" baseline="0" dirty="0" smtClean="0">
                <a:solidFill>
                  <a:schemeClr val="bg1">
                    <a:lumMod val="65000"/>
                  </a:schemeClr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Corporate Introduction @ DANAL Co., Ltd. All Rights Reserved.</a:t>
            </a:r>
            <a:r>
              <a:rPr kumimoji="1" lang="ko-KR" altLang="en-US" sz="800" b="0" i="0" u="none" strike="noStrike" kern="1200" baseline="0" dirty="0" smtClean="0">
                <a:solidFill>
                  <a:schemeClr val="bg1">
                    <a:lumMod val="65000"/>
                  </a:schemeClr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              </a:t>
            </a:r>
            <a:endParaRPr kumimoji="1" lang="en-US" altLang="ko-KR" sz="800" b="0" i="0" u="none" strike="noStrike" kern="1200" baseline="0" dirty="0" smtClean="0">
              <a:solidFill>
                <a:schemeClr val="bg1">
                  <a:lumMod val="65000"/>
                </a:schemeClr>
              </a:solidFill>
              <a:latin typeface="Tahoma" pitchFamily="34" charset="0"/>
              <a:ea typeface="Tahoma" pitchFamily="34" charset="0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979442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ini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 userDrawn="1"/>
        </p:nvSpPr>
        <p:spPr>
          <a:xfrm>
            <a:off x="2288704" y="2852936"/>
            <a:ext cx="54726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800" b="1" dirty="0" smtClean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  <a:cs typeface="Calibri" pitchFamily="34" charset="0"/>
              </a:rPr>
              <a:t>고맙습니다</a:t>
            </a:r>
            <a:r>
              <a:rPr lang="en-US" altLang="ko-KR" sz="4800" b="1" dirty="0" smtClean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  <a:cs typeface="Calibri" pitchFamily="34" charset="0"/>
              </a:rPr>
              <a:t>.</a:t>
            </a:r>
            <a:endParaRPr lang="ko-KR" altLang="en-US" sz="4800" b="1" dirty="0">
              <a:solidFill>
                <a:schemeClr val="bg1">
                  <a:lumMod val="65000"/>
                </a:schemeClr>
              </a:solidFill>
              <a:latin typeface="+mn-ea"/>
              <a:ea typeface="+mn-ea"/>
              <a:cs typeface="Calibri" pitchFamily="34" charset="0"/>
            </a:endParaRPr>
          </a:p>
        </p:txBody>
      </p:sp>
      <p:sp>
        <p:nvSpPr>
          <p:cNvPr id="2" name="TextBox 1"/>
          <p:cNvSpPr txBox="1"/>
          <p:nvPr userDrawn="1"/>
        </p:nvSpPr>
        <p:spPr>
          <a:xfrm>
            <a:off x="0" y="6309320"/>
            <a:ext cx="9906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b="0" i="0" u="none" strike="noStrike" kern="1200" baseline="0" dirty="0" smtClean="0">
                <a:solidFill>
                  <a:schemeClr val="bg1">
                    <a:lumMod val="65000"/>
                  </a:schemeClr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Corporate Introduction @ DANAL Co., Ltd. All Rights Reserved.</a:t>
            </a:r>
            <a:r>
              <a:rPr kumimoji="1" lang="ko-KR" altLang="en-US" sz="800" b="0" i="0" u="none" strike="noStrike" kern="1200" baseline="0" dirty="0" smtClean="0">
                <a:solidFill>
                  <a:schemeClr val="bg1">
                    <a:lumMod val="65000"/>
                  </a:schemeClr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              </a:t>
            </a:r>
            <a:endParaRPr kumimoji="1" lang="en-US" altLang="ko-KR" sz="800" b="0" i="0" u="none" strike="noStrike" kern="1200" baseline="0" dirty="0" smtClean="0">
              <a:solidFill>
                <a:schemeClr val="bg1">
                  <a:lumMod val="65000"/>
                </a:schemeClr>
              </a:solidFill>
              <a:latin typeface="Tahoma" pitchFamily="34" charset="0"/>
              <a:ea typeface="Tahoma" pitchFamily="34" charset="0"/>
              <a:cs typeface="Tahoma" pitchFamily="34" charset="0"/>
            </a:endParaRPr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7459" y="153748"/>
            <a:ext cx="1077533" cy="412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68688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82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20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76809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1"/>
            <a:ext cx="437515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35550" y="1600201"/>
            <a:ext cx="437515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70677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6233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27948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DFC97C24-D13C-4134-986B-6262495594F0}" type="datetimeFigureOut">
              <a:rPr lang="ko-KR" altLang="en-US" smtClean="0"/>
              <a:t>2024-12-16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/>
          <a:lstStyle/>
          <a:p>
            <a:fld id="{ED0D0D7A-66E0-4DA2-9EC1-F1FAD039C6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868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3951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2" r:id="rId2"/>
    <p:sldLayoutId id="2147483670" r:id="rId3"/>
    <p:sldLayoutId id="2147483671" r:id="rId4"/>
    <p:sldLayoutId id="2147483663" r:id="rId5"/>
    <p:sldLayoutId id="2147483664" r:id="rId6"/>
    <p:sldLayoutId id="2147483665" r:id="rId7"/>
    <p:sldLayoutId id="2147483669" r:id="rId8"/>
    <p:sldLayoutId id="2147483668" r:id="rId9"/>
    <p:sldLayoutId id="2147483666" r:id="rId10"/>
    <p:sldLayoutId id="2147483667" r:id="rId11"/>
    <p:sldLayoutId id="2147483672" r:id="rId12"/>
    <p:sldLayoutId id="2147483649" r:id="rId13"/>
    <p:sldLayoutId id="2147483650" r:id="rId14"/>
    <p:sldLayoutId id="2147483651" r:id="rId15"/>
    <p:sldLayoutId id="2147483652" r:id="rId16"/>
    <p:sldLayoutId id="2147483653" r:id="rId17"/>
    <p:sldLayoutId id="2147483654" r:id="rId18"/>
    <p:sldLayoutId id="2147483655" r:id="rId19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28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defRPr b="1" sz="2800"/>
            </a:pPr>
            <a:r>
              <a:t>럭키픽 (LuckyPick)</a:t>
            </a:r>
          </a:p>
          <a:p>
            <a:r>
              <a:t>다날 결제서비스 연동 검수요청서</a:t>
            </a:r>
          </a:p>
        </p:txBody>
      </p:sp>
      <p:sp>
        <p:nvSpPr>
          <p:cNvPr id="36" name="텍스트 개체 틀 3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7" name="텍스트 개체 틀 36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8" name="텍스트 개체 틀 37"/>
          <p:cNvSpPr>
            <a:spLocks noGrp="1"/>
          </p:cNvSpPr>
          <p:nvPr>
            <p:ph type="body" sz="quarter" idx="13"/>
          </p:nvPr>
        </p:nvSpPr>
        <p:spPr>
          <a:xfrm>
            <a:off x="3480472" y="3789040"/>
            <a:ext cx="5936578" cy="286047"/>
          </a:xfrm>
        </p:spPr>
        <p:txBody>
          <a:bodyPr/>
          <a:lstStyle/>
          <a:p>
            <a:pPr>
              <a:defRPr sz="1300"/>
            </a:pPr>
            <a:r>
              <a:t>서비스 URL: https://luckypick-ec4cf.web.app</a:t>
            </a:r>
          </a:p>
          <a:p>
            <a:pPr>
              <a:defRPr sz="1300"/>
            </a:pPr>
            <a:r>
              <a:t>상호(법인명): 럭키픽 | 대표자: 이재영</a:t>
            </a:r>
          </a:p>
          <a:p>
            <a:pPr>
              <a:defRPr sz="1300"/>
            </a:pPr>
            <a:r>
              <a:t>사업자등록번호: 803-05-03449 | 통신판매업: 제 2026-화성새솔-0099 호</a:t>
            </a:r>
          </a:p>
          <a:p>
            <a:pPr>
              <a:defRPr sz="1300"/>
            </a:pPr>
            <a:r>
              <a:t>고객센터: 070-8019-3205 | 이메일: leejeayoung0713@gmail.com</a:t>
            </a:r>
          </a:p>
          <a:p>
            <a:pPr>
              <a:defRPr sz="1300"/>
            </a:pPr>
            <a:r>
              <a:t>사업장 소재지: 경기도 화성시 만세구 수노을1로 148, 101동 902호</a:t>
            </a:r>
          </a:p>
          <a:p>
            <a:pPr>
              <a:defRPr sz="1300"/>
            </a:pPr>
            <a:r>
              <a:t>TEST 계정: ID: tester@luckypick.kr / PW: LuckyPick2026!</a:t>
            </a:r>
          </a:p>
          <a:p>
            <a:pPr>
              <a:defRPr sz="1300"/>
            </a:pPr>
            <a:r>
              <a:t>신청 서비스: 휴대폰 소액결제(APP), 신용카드 결제(일반/간편)</a:t>
            </a:r>
          </a:p>
          <a:p>
            <a:pPr>
              <a:defRPr sz="1300"/>
            </a:pPr>
            <a:r>
              <a:t>작성일자: 2026. 10. 20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488504" y="6309320"/>
            <a:ext cx="1800200" cy="216024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413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defRPr b="1" sz="1800"/>
            </a:pPr>
            <a:r>
              <a:t>앱 메인 화면 (URL 노출 캡쳐)</a:t>
            </a:r>
          </a:p>
        </p:txBody>
      </p:sp>
      <p:pic>
        <p:nvPicPr>
          <p:cNvPr id="3" name="Picture 2" descr="01_main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00" y="1164606"/>
            <a:ext cx="9106000" cy="4970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8901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defRPr b="1" sz="1800"/>
            </a:pPr>
            <a:r>
              <a:t>앱 메인_하단정보 (상호, 사업자번호, 대표자, 고객센터 070번호 노출)</a:t>
            </a:r>
          </a:p>
        </p:txBody>
      </p:sp>
      <p:pic>
        <p:nvPicPr>
          <p:cNvPr id="3" name="Picture 2" descr="02_footer_business_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404" y="750000"/>
            <a:ext cx="6489191" cy="5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652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defRPr b="1" sz="1800"/>
            </a:pPr>
            <a:r>
              <a:t>상품 선택 &gt; 럭키박스 라인업 및 투명 확률 공개 (베이직 5천원 / 프리미엄 1만원 / VIP 2만원)</a:t>
            </a:r>
          </a:p>
        </p:txBody>
      </p:sp>
      <p:pic>
        <p:nvPicPr>
          <p:cNvPr id="3" name="Picture 2" descr="03_products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868" y="750000"/>
            <a:ext cx="7498263" cy="5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302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defRPr b="1" sz="1800"/>
            </a:pPr>
            <a:r>
              <a:t>신용카드 / 휴대폰 결제창 연동 (정찰제 ₩5,000원, 금액 임의 입력 불가)</a:t>
            </a:r>
          </a:p>
        </p:txBody>
      </p:sp>
      <p:pic>
        <p:nvPicPr>
          <p:cNvPr id="3" name="Picture 2" descr="media_17925026529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0350" y="750000"/>
            <a:ext cx="6345299" cy="5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1973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defRPr b="1" sz="1800"/>
            </a:pPr>
            <a:r>
              <a:t>다날 신용카드 표준결제창 호출 &gt; 각 카드사 선택 (베이직 럭키박스 5,000원 결제)</a:t>
            </a:r>
          </a:p>
        </p:txBody>
      </p:sp>
      <p:pic>
        <p:nvPicPr>
          <p:cNvPr id="3" name="Picture 2" descr="media_17925015828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01" y="750000"/>
            <a:ext cx="6858198" cy="5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5609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defRPr b="1" sz="1800"/>
            </a:pPr>
            <a:r>
              <a:t>다날 휴대폰 소액결제 연동창 호출 (SKT, KT, LGU+, 알뜰폰)</a:t>
            </a:r>
          </a:p>
        </p:txBody>
      </p:sp>
      <p:pic>
        <p:nvPicPr>
          <p:cNvPr id="3" name="Picture 2" descr="media_17925010624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000" y="750000"/>
            <a:ext cx="6400000" cy="5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884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6000" y="140000"/>
            <a:ext cx="94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/>
            </a:pPr>
            <a:r>
              <a:t>이용약관 및 취소 / 환불 정책 (개봉 전 7일 이내 원 결제수단 100% 환불 규정)</a:t>
            </a:r>
          </a:p>
        </p:txBody>
      </p:sp>
      <p:pic>
        <p:nvPicPr>
          <p:cNvPr id="3" name="Picture 2" descr="05_refund_pol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404" y="750000"/>
            <a:ext cx="6489191" cy="5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569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669</TotalTime>
  <Words>174</Words>
  <Application>Microsoft Office PowerPoint</Application>
  <PresentationFormat>A4 용지(210x297mm)</PresentationFormat>
  <Paragraphs>14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3" baseType="lpstr">
      <vt:lpstr>굴림</vt:lpstr>
      <vt:lpstr>나눔고딕</vt:lpstr>
      <vt:lpstr>맑은 고딕</vt:lpstr>
      <vt:lpstr>Arial</vt:lpstr>
      <vt:lpstr>Calibri</vt:lpstr>
      <vt:lpstr>Tahoma</vt:lpstr>
      <vt:lpstr>Times New Roman</vt:lpstr>
      <vt:lpstr>Wingdings 3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㈜팝아이콘(로또팟) 결제경로</dc:title>
  <dc:creator>sykwon@danal.co.kr</dc:creator>
  <cp:lastModifiedBy>이소원</cp:lastModifiedBy>
  <cp:revision>75</cp:revision>
  <dcterms:created xsi:type="dcterms:W3CDTF">2015-10-26T09:15:08Z</dcterms:created>
  <dcterms:modified xsi:type="dcterms:W3CDTF">2024-12-16T02:09:20Z</dcterms:modified>
</cp:coreProperties>
</file>