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79" r:id="rId4"/>
    <p:sldId id="264" r:id="rId5"/>
    <p:sldId id="285" r:id="rId6"/>
    <p:sldId id="278" r:id="rId7"/>
    <p:sldId id="266" r:id="rId8"/>
    <p:sldId id="280" r:id="rId9"/>
    <p:sldId id="282" r:id="rId10"/>
    <p:sldId id="272" r:id="rId11"/>
    <p:sldId id="275" r:id="rId1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4E85CA"/>
    <a:srgbClr val="558ED5"/>
    <a:srgbClr val="39557F"/>
    <a:srgbClr val="2B578D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9658" autoAdjust="0"/>
  </p:normalViewPr>
  <p:slideViewPr>
    <p:cSldViewPr>
      <p:cViewPr varScale="1">
        <p:scale>
          <a:sx n="115" d="100"/>
          <a:sy n="115" d="100"/>
        </p:scale>
        <p:origin x="1662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pattFill prst="pct50">
            <a:fgClr>
              <a:schemeClr val="tx2">
                <a:lumMod val="60000"/>
                <a:lumOff val="40000"/>
              </a:schemeClr>
            </a:fgClr>
            <a:bgClr>
              <a:schemeClr val="bg1">
                <a:lumMod val="6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 err="1" smtClean="0"/>
          </a:p>
        </p:txBody>
      </p:sp>
      <p:sp>
        <p:nvSpPr>
          <p:cNvPr id="23" name="타원 22"/>
          <p:cNvSpPr/>
          <p:nvPr userDrawn="1"/>
        </p:nvSpPr>
        <p:spPr>
          <a:xfrm>
            <a:off x="5654544" y="507848"/>
            <a:ext cx="4286280" cy="3881849"/>
          </a:xfrm>
          <a:prstGeom prst="ellipse">
            <a:avLst/>
          </a:prstGeom>
          <a:gradFill flip="none" rotWithShape="1">
            <a:gsLst>
              <a:gs pos="44000">
                <a:srgbClr val="002060">
                  <a:alpha val="7000"/>
                  <a:lumMod val="83000"/>
                </a:srgbClr>
              </a:gs>
              <a:gs pos="0">
                <a:srgbClr val="A3C5F7">
                  <a:alpha val="78824"/>
                </a:srgbClr>
              </a:gs>
              <a:gs pos="84000">
                <a:srgbClr val="709BE2">
                  <a:alpha val="32941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" cap="sq">
            <a:noFill/>
            <a:miter lim="800000"/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 err="1" smtClean="0">
              <a:solidFill>
                <a:schemeClr val="tx1"/>
              </a:solidFill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8040266" y="333241"/>
            <a:ext cx="1377230" cy="307766"/>
            <a:chOff x="7939236" y="333241"/>
            <a:chExt cx="1377230" cy="307766"/>
          </a:xfrm>
        </p:grpSpPr>
        <p:sp>
          <p:nvSpPr>
            <p:cNvPr id="3" name="Text Box 43"/>
            <p:cNvSpPr txBox="1">
              <a:spLocks noChangeArrowheads="1"/>
            </p:cNvSpPr>
            <p:nvPr/>
          </p:nvSpPr>
          <p:spPr bwMode="auto">
            <a:xfrm>
              <a:off x="8254353" y="333241"/>
              <a:ext cx="746999" cy="307766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45715" rIns="0" bIns="45715">
              <a:spAutoFit/>
            </a:bodyPr>
            <a:lstStyle>
              <a:lvl1pPr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Arial" charset="0"/>
                  <a:ea typeface="굴림" pitchFamily="50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1400" b="1" i="0" dirty="0" smtClean="0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  <a:cs typeface="Arial" pitchFamily="34" charset="0"/>
                  <a:sym typeface="Wingdings 3" pitchFamily="18" charset="2"/>
                </a:rPr>
                <a:t>Payment</a:t>
              </a:r>
            </a:p>
          </p:txBody>
        </p:sp>
        <p:sp>
          <p:nvSpPr>
            <p:cNvPr id="4" name="직사각형 3"/>
            <p:cNvSpPr/>
            <p:nvPr userDrawn="1"/>
          </p:nvSpPr>
          <p:spPr>
            <a:xfrm>
              <a:off x="7939236" y="333241"/>
              <a:ext cx="1377230" cy="307766"/>
            </a:xfrm>
            <a:prstGeom prst="rect">
              <a:avLst/>
            </a:prstGeom>
            <a:noFill/>
            <a:ln w="190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직사각형 5"/>
          <p:cNvSpPr/>
          <p:nvPr userDrawn="1"/>
        </p:nvSpPr>
        <p:spPr>
          <a:xfrm>
            <a:off x="0" y="0"/>
            <a:ext cx="9906000" cy="94320"/>
          </a:xfrm>
          <a:prstGeom prst="rect">
            <a:avLst/>
          </a:prstGeom>
          <a:pattFill prst="ltDnDiag">
            <a:fgClr>
              <a:schemeClr val="tx1">
                <a:lumMod val="75000"/>
                <a:lumOff val="25000"/>
              </a:schemeClr>
            </a:fgClr>
            <a:bgClr>
              <a:schemeClr val="tx1">
                <a:lumMod val="65000"/>
                <a:lumOff val="3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800" b="1" dirty="0">
              <a:solidFill>
                <a:prstClr val="white"/>
              </a:solidFill>
            </a:endParaRPr>
          </a:p>
        </p:txBody>
      </p:sp>
      <p:graphicFrame>
        <p:nvGraphicFramePr>
          <p:cNvPr id="19" name="Group 1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4012357"/>
              </p:ext>
            </p:extLst>
          </p:nvPr>
        </p:nvGraphicFramePr>
        <p:xfrm>
          <a:off x="6825208" y="5490891"/>
          <a:ext cx="2592288" cy="998921"/>
        </p:xfrm>
        <a:graphic>
          <a:graphicData uri="http://schemas.openxmlformats.org/drawingml/2006/table">
            <a:tbl>
              <a:tblPr/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467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성 일 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66">
                <a:tc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   성   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88">
                <a:tc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문서관리자 </a:t>
                      </a:r>
                      <a:endParaRPr kumimoji="1" lang="en-US" altLang="ko-KR" sz="1000" kern="120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5995" marR="35995" marT="17998" marB="17998" anchor="ctr" horzOverflow="overflow">
                    <a:lnL cap="flat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㈜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다날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Times New Roman" pitchFamily="18" charset="0"/>
                        </a:rPr>
                        <a:t> 결제사업본부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35995" marR="35995" marT="17998" marB="17998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Rectangle 40"/>
          <p:cNvSpPr>
            <a:spLocks noChangeArrowheads="1"/>
          </p:cNvSpPr>
          <p:nvPr userDrawn="1"/>
        </p:nvSpPr>
        <p:spPr bwMode="auto">
          <a:xfrm>
            <a:off x="3564365" y="4325330"/>
            <a:ext cx="5942756" cy="507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45715" rIns="91429" bIns="45715" anchor="ctr">
            <a:spAutoFit/>
          </a:bodyPr>
          <a:lstStyle/>
          <a:p>
            <a:pPr lvl="0" algn="r"/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본 문서의 저작권은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㈜</a:t>
            </a:r>
            <a:r>
              <a:rPr lang="ko-KR" altLang="en-US" sz="900" dirty="0" err="1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다날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소유이므로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사전 허가 없이 무단전재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복사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유출</a:t>
            </a:r>
            <a:r>
              <a:rPr lang="en-US" altLang="ko-KR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,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유포한 </a:t>
            </a:r>
            <a:endParaRPr lang="en-US" altLang="ko-KR" sz="900" dirty="0" smtClean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  <a:p>
            <a:pPr lvl="0" algn="r"/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자는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이로 인하여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발생한 당사의 </a:t>
            </a:r>
            <a:r>
              <a:rPr lang="ko-KR" altLang="en-US" sz="900" dirty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모든 불이익에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대하여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 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금전적 손해배상은 물론 관계법령에 의한 민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</a:t>
            </a:r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형사상의 </a:t>
            </a:r>
            <a:endParaRPr lang="en-US" altLang="ko-KR" sz="900" dirty="0" smtClean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  <a:p>
            <a:pPr lvl="0" algn="r"/>
            <a:r>
              <a:rPr lang="ko-KR" altLang="en-US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처벌을 감수하여야 합니다</a:t>
            </a:r>
            <a:r>
              <a:rPr lang="en-US" altLang="ko-KR" sz="900" dirty="0" smtClean="0">
                <a:solidFill>
                  <a:schemeClr val="bg1">
                    <a:lumMod val="95000"/>
                  </a:schemeClr>
                </a:solidFill>
                <a:latin typeface="맑은 고딕" pitchFamily="50" charset="-127"/>
                <a:ea typeface="맑은 고딕" pitchFamily="50" charset="-127"/>
                <a:sym typeface="Wingdings 3" pitchFamily="18" charset="2"/>
              </a:rPr>
              <a:t>. </a:t>
            </a:r>
            <a:endParaRPr lang="en-US" altLang="ko-KR" sz="900" dirty="0">
              <a:solidFill>
                <a:schemeClr val="bg1">
                  <a:lumMod val="95000"/>
                </a:schemeClr>
              </a:solidFill>
              <a:latin typeface="맑은 고딕" pitchFamily="50" charset="-127"/>
              <a:ea typeface="맑은 고딕" pitchFamily="50" charset="-127"/>
              <a:sym typeface="Wingdings 3" pitchFamily="18" charset="2"/>
            </a:endParaRPr>
          </a:p>
        </p:txBody>
      </p:sp>
      <p:cxnSp>
        <p:nvCxnSpPr>
          <p:cNvPr id="34" name="직선 연결선 33"/>
          <p:cNvCxnSpPr/>
          <p:nvPr userDrawn="1"/>
        </p:nvCxnSpPr>
        <p:spPr>
          <a:xfrm>
            <a:off x="488950" y="4245757"/>
            <a:ext cx="8928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 userDrawn="1"/>
        </p:nvGrpSpPr>
        <p:grpSpPr>
          <a:xfrm>
            <a:off x="513226" y="5615873"/>
            <a:ext cx="3239914" cy="864756"/>
            <a:chOff x="488950" y="5607781"/>
            <a:chExt cx="3239914" cy="864756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488950" y="6133993"/>
              <a:ext cx="3239914" cy="338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45715" rIns="91429" bIns="45715" anchor="ctr">
              <a:spAutoFit/>
            </a:bodyPr>
            <a:lstStyle>
              <a:defPPr>
                <a:defRPr lang="ko-KR"/>
              </a:defPPr>
              <a:lvl1pPr>
                <a:defRPr sz="800">
                  <a:solidFill>
                    <a:srgbClr val="75A4DD"/>
                  </a:solidFill>
                  <a:latin typeface="맑은 고딕" pitchFamily="50" charset="-127"/>
                  <a:ea typeface="맑은 고딕" pitchFamily="50" charset="-127"/>
                </a:defRPr>
              </a:lvl1pPr>
            </a:lstStyle>
            <a:p>
              <a:pPr algn="l"/>
              <a:r>
                <a:rPr kumimoji="1" lang="en-US" altLang="ko-KR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Corporate Introduction @ DANAL Co., Ltd. All Rights Reserved.</a:t>
              </a:r>
              <a:r>
                <a:rPr kumimoji="1" lang="ko-KR" altLang="en-US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              </a:t>
              </a:r>
              <a:endParaRPr kumimoji="1" lang="en-US" altLang="ko-KR" sz="800" kern="1200" baseline="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endParaRPr>
            </a:p>
            <a:p>
              <a:pPr algn="l"/>
              <a:r>
                <a:rPr kumimoji="1" lang="en-US" altLang="ko-KR" sz="800" kern="1200" baseline="0" dirty="0" smtClean="0">
                  <a:solidFill>
                    <a:schemeClr val="bg1">
                      <a:lumMod val="85000"/>
                    </a:schemeClr>
                  </a:solidFill>
                  <a:latin typeface="Calibri" pitchFamily="34" charset="0"/>
                  <a:ea typeface="맑은 고딕" pitchFamily="50" charset="-127"/>
                  <a:cs typeface="+mn-cs"/>
                </a:rPr>
                <a:t>Tel  031-697-1004     FAX 031-697-1461  </a:t>
              </a:r>
              <a:endParaRPr kumimoji="1" lang="ko-KR" altLang="en-US" sz="800" kern="1200" baseline="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endParaRPr>
            </a:p>
          </p:txBody>
        </p:sp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904" y="5607781"/>
              <a:ext cx="1242066" cy="475711"/>
            </a:xfrm>
            <a:prstGeom prst="rect">
              <a:avLst/>
            </a:prstGeom>
          </p:spPr>
        </p:pic>
      </p:grpSp>
      <p:sp>
        <p:nvSpPr>
          <p:cNvPr id="12" name="제목 7"/>
          <p:cNvSpPr txBox="1">
            <a:spLocks/>
          </p:cNvSpPr>
          <p:nvPr userDrawn="1"/>
        </p:nvSpPr>
        <p:spPr>
          <a:xfrm>
            <a:off x="620923" y="2123280"/>
            <a:ext cx="8894290" cy="693747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3400" b="1" kern="1200" baseline="0" noProof="0" dirty="0" err="1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서브몰</a:t>
            </a:r>
            <a:r>
              <a:rPr kumimoji="0" lang="ko-KR" altLang="en-US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 등록</a:t>
            </a:r>
            <a:r>
              <a:rPr kumimoji="0" lang="en-US" altLang="ko-KR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/>
            </a:r>
            <a:br>
              <a:rPr kumimoji="0" lang="en-US" altLang="ko-KR" sz="340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chemeClr val="bg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chemeClr val="bg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0" hasCustomPrompt="1"/>
          </p:nvPr>
        </p:nvSpPr>
        <p:spPr>
          <a:xfrm>
            <a:off x="3493539" y="1412776"/>
            <a:ext cx="6041334" cy="78489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ko-KR" altLang="en-US" sz="4700" b="1" kern="1200" baseline="0" dirty="0" smtClean="0">
                <a:solidFill>
                  <a:srgbClr val="525252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err="1" smtClean="0"/>
              <a:t>업체명</a:t>
            </a:r>
            <a:endParaRPr lang="ko-KR" altLang="en-US" dirty="0" smtClean="0"/>
          </a:p>
        </p:txBody>
      </p:sp>
      <p:sp>
        <p:nvSpPr>
          <p:cNvPr id="35" name="제목 7"/>
          <p:cNvSpPr txBox="1">
            <a:spLocks/>
          </p:cNvSpPr>
          <p:nvPr userDrawn="1"/>
        </p:nvSpPr>
        <p:spPr>
          <a:xfrm>
            <a:off x="6535743" y="3445077"/>
            <a:ext cx="2971377" cy="693747"/>
          </a:xfrm>
          <a:prstGeom prst="rect">
            <a:avLst/>
          </a:prstGeom>
        </p:spPr>
        <p:txBody>
          <a:bodyPr/>
          <a:lstStyle/>
          <a:p>
            <a:pPr lvl="0" algn="r">
              <a:lnSpc>
                <a:spcPct val="120000"/>
              </a:lnSpc>
              <a:defRPr/>
            </a:pPr>
            <a:r>
              <a:rPr kumimoji="0" lang="ko-KR" altLang="en-US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결제 프로세스</a:t>
            </a:r>
            <a:r>
              <a:rPr kumimoji="0" lang="en-US" altLang="ko-KR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(</a:t>
            </a:r>
            <a:r>
              <a:rPr kumimoji="0" lang="ko-KR" altLang="en-US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경로</a:t>
            </a:r>
            <a:r>
              <a:rPr kumimoji="0" lang="en-US" altLang="ko-KR" sz="2150" b="1" kern="1200" baseline="0" noProof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rPr>
              <a:t>) </a:t>
            </a:r>
            <a:endParaRPr kumimoji="0" lang="ko-KR" altLang="en-US" sz="2150" b="1" kern="1200" baseline="0" noProof="0" dirty="0" smtClean="0">
              <a:solidFill>
                <a:schemeClr val="bg1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36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7686902" y="5530203"/>
            <a:ext cx="1558145" cy="27210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kumimoji="0" lang="ko-KR" altLang="en-US" sz="100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날짜기입</a:t>
            </a:r>
          </a:p>
        </p:txBody>
      </p:sp>
      <p:sp>
        <p:nvSpPr>
          <p:cNvPr id="37" name="텍스트 개체 틀 32"/>
          <p:cNvSpPr>
            <a:spLocks noGrp="1"/>
          </p:cNvSpPr>
          <p:nvPr>
            <p:ph type="body" sz="quarter" idx="12" hasCustomPrompt="1"/>
          </p:nvPr>
        </p:nvSpPr>
        <p:spPr>
          <a:xfrm>
            <a:off x="7686902" y="5870069"/>
            <a:ext cx="1558145" cy="27210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kumimoji="0" lang="ko-KR" altLang="en-US" sz="100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담당자명</a:t>
            </a:r>
          </a:p>
        </p:txBody>
      </p:sp>
      <p:sp>
        <p:nvSpPr>
          <p:cNvPr id="38" name="텍스트 개체 틀 32"/>
          <p:cNvSpPr>
            <a:spLocks noGrp="1"/>
          </p:cNvSpPr>
          <p:nvPr>
            <p:ph type="body" sz="quarter" idx="13" hasCustomPrompt="1"/>
          </p:nvPr>
        </p:nvSpPr>
        <p:spPr>
          <a:xfrm>
            <a:off x="3480472" y="3879217"/>
            <a:ext cx="5936578" cy="28604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0" lang="ko-KR" altLang="en-US" sz="1250" b="0" kern="1200" baseline="0" dirty="0" smtClean="0">
                <a:solidFill>
                  <a:schemeClr val="bg1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ko-KR" altLang="en-US" dirty="0" smtClean="0"/>
              <a:t>사이트주소기입</a:t>
            </a:r>
          </a:p>
        </p:txBody>
      </p:sp>
    </p:spTree>
    <p:extLst>
      <p:ext uri="{BB962C8B-B14F-4D97-AF65-F5344CB8AC3E}">
        <p14:creationId xmlns:p14="http://schemas.microsoft.com/office/powerpoint/2010/main" val="3020228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6" name="제목 2"/>
          <p:cNvSpPr>
            <a:spLocks noGrp="1"/>
          </p:cNvSpPr>
          <p:nvPr>
            <p:ph type="title"/>
          </p:nvPr>
        </p:nvSpPr>
        <p:spPr>
          <a:xfrm>
            <a:off x="1120946" y="2715977"/>
            <a:ext cx="4961756" cy="424991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>
              <a:defRPr lang="ko-KR" altLang="en-US" sz="3600" b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211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4" name="제목 7"/>
          <p:cNvSpPr txBox="1">
            <a:spLocks/>
          </p:cNvSpPr>
          <p:nvPr userDrawn="1"/>
        </p:nvSpPr>
        <p:spPr>
          <a:xfrm>
            <a:off x="1037421" y="3124524"/>
            <a:ext cx="8894290" cy="693747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0000"/>
              </a:lnSpc>
              <a:defRPr/>
            </a:pPr>
            <a:r>
              <a:rPr kumimoji="0" lang="en-US" altLang="ko-KR" sz="5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ISP</a:t>
            </a:r>
            <a:br>
              <a:rPr kumimoji="0" lang="en-US" altLang="ko-KR" sz="5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rgbClr val="39557F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rgbClr val="39557F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746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dex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136576" y="2643969"/>
            <a:ext cx="2520280" cy="720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 dirty="0"/>
          </a:p>
        </p:txBody>
      </p:sp>
      <p:sp>
        <p:nvSpPr>
          <p:cNvPr id="4" name="제목 7"/>
          <p:cNvSpPr txBox="1">
            <a:spLocks/>
          </p:cNvSpPr>
          <p:nvPr userDrawn="1"/>
        </p:nvSpPr>
        <p:spPr>
          <a:xfrm>
            <a:off x="1037421" y="3124524"/>
            <a:ext cx="8894290" cy="693747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20000"/>
              </a:lnSpc>
              <a:defRPr/>
            </a:pPr>
            <a:r>
              <a:rPr kumimoji="0" lang="ko-KR" altLang="en-US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  <a:t>안심클릭</a:t>
            </a:r>
            <a:r>
              <a:rPr kumimoji="0" lang="en-US" altLang="ko-KR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  <a:t/>
            </a:r>
            <a:br>
              <a:rPr kumimoji="0" lang="en-US" altLang="ko-KR" sz="3400" b="1" kern="120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Arial" pitchFamily="34" charset="0"/>
              </a:rPr>
            </a:br>
            <a:r>
              <a:rPr kumimoji="0" lang="en-US" altLang="ko-KR" sz="4400" b="1" kern="1200" baseline="0" noProof="0" dirty="0" smtClean="0">
                <a:solidFill>
                  <a:srgbClr val="39557F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</a:t>
            </a:r>
            <a:endParaRPr kumimoji="0" lang="ko-KR" altLang="en-US" sz="4400" b="1" kern="1200" noProof="0" dirty="0" smtClean="0">
              <a:solidFill>
                <a:srgbClr val="39557F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r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71855" y="52439"/>
            <a:ext cx="4961756" cy="1023742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>
              <a:defRPr lang="ko-KR" altLang="en-US" sz="2800" b="1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488950" y="0"/>
            <a:ext cx="1871762" cy="58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319201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rt 2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71855" y="225968"/>
            <a:ext cx="4961756" cy="1023742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>
            <a:lvl1pPr algn="l" defTabSz="957263" rtl="0" fontAlgn="base" latinLnBrk="1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defRPr kumimoji="1" lang="ko-KR" altLang="en-US" sz="2800" b="1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  <a:cs typeface="+mn-cs"/>
              </a:defRPr>
            </a:lvl1pPr>
          </a:lstStyle>
          <a:p>
            <a:pPr lvl="0" defTabSz="957263">
              <a:lnSpc>
                <a:spcPts val="2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488950" y="0"/>
            <a:ext cx="1871762" cy="5818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lvl="0" algn="ctr"/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2291236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210345" y="1721508"/>
            <a:ext cx="8819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전체 구조도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421945" y="2286138"/>
            <a:ext cx="4587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Gate</a:t>
            </a:r>
            <a:endParaRPr lang="ko-KR" altLang="en-US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409921" y="2850768"/>
            <a:ext cx="4828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단지 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25953" y="341539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가구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425954" y="398002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가전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249626" y="5396221"/>
            <a:ext cx="8034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기기정보</a:t>
            </a:r>
            <a:endParaRPr lang="en-US" altLang="ko-KR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등록 </a:t>
            </a:r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편집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308161" y="21257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 userDrawn="1"/>
        </p:nvCxnSpPr>
        <p:spPr>
          <a:xfrm>
            <a:off x="308161" y="2663135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 userDrawn="1"/>
        </p:nvCxnSpPr>
        <p:spPr>
          <a:xfrm>
            <a:off x="308161" y="3264713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>
            <a:off x="308161" y="38021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 userDrawn="1"/>
        </p:nvCxnSpPr>
        <p:spPr>
          <a:xfrm>
            <a:off x="308161" y="43876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 userDrawn="1"/>
        </p:nvCxnSpPr>
        <p:spPr>
          <a:xfrm>
            <a:off x="308161" y="53020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308161" y="5895619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21705" y="109702"/>
            <a:ext cx="0" cy="400097"/>
          </a:xfrm>
          <a:prstGeom prst="line">
            <a:avLst/>
          </a:prstGeom>
          <a:ln w="28575">
            <a:solidFill>
              <a:srgbClr val="39557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182118" y="168365"/>
            <a:ext cx="9523410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000" b="1" kern="1200" dirty="0" smtClean="0">
                <a:solidFill>
                  <a:srgbClr val="39557F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6472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0" y="0"/>
            <a:ext cx="9906000" cy="590550"/>
            <a:chOff x="0" y="0"/>
            <a:chExt cx="9906000" cy="1125538"/>
          </a:xfrm>
        </p:grpSpPr>
        <p:sp>
          <p:nvSpPr>
            <p:cNvPr id="3" name="직사각형 2"/>
            <p:cNvSpPr/>
            <p:nvPr userDrawn="1"/>
          </p:nvSpPr>
          <p:spPr>
            <a:xfrm>
              <a:off x="0" y="0"/>
              <a:ext cx="9906000" cy="1125538"/>
            </a:xfrm>
            <a:prstGeom prst="rect">
              <a:avLst/>
            </a:prstGeom>
            <a:pattFill prst="ltDnDiag">
              <a:fgClr>
                <a:schemeClr val="accent1">
                  <a:lumMod val="60000"/>
                  <a:lumOff val="40000"/>
                </a:schemeClr>
              </a:fgClr>
              <a:bgClr>
                <a:srgbClr val="A9C6E9"/>
              </a:bgClr>
            </a:pattFill>
            <a:ln w="3175" cap="sq">
              <a:noFill/>
              <a:prstDash val="solid"/>
              <a:miter lim="800000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36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150000"/>
                </a:lnSpc>
              </a:pPr>
              <a:endParaRPr lang="ko-KR" altLang="en-US" sz="1200" b="1" i="1" smtClean="0">
                <a:solidFill>
                  <a:schemeClr val="bg1"/>
                </a:solidFill>
                <a:latin typeface="Calibri" pitchFamily="34" charset="0"/>
                <a:ea typeface="나눔고딕" pitchFamily="50" charset="-127"/>
              </a:endParaRPr>
            </a:p>
          </p:txBody>
        </p:sp>
        <p:cxnSp>
          <p:nvCxnSpPr>
            <p:cNvPr id="4" name="직선 연결선 3"/>
            <p:cNvCxnSpPr/>
            <p:nvPr userDrawn="1"/>
          </p:nvCxnSpPr>
          <p:spPr>
            <a:xfrm>
              <a:off x="9772650" y="564922"/>
              <a:ext cx="133350" cy="0"/>
            </a:xfrm>
            <a:prstGeom prst="line">
              <a:avLst/>
            </a:prstGeom>
            <a:ln w="3175" cap="sq">
              <a:solidFill>
                <a:schemeClr val="bg1"/>
              </a:solidFill>
              <a:prstDash val="sysDot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266086" y="139176"/>
            <a:ext cx="9438828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  <p:sp>
        <p:nvSpPr>
          <p:cNvPr id="9" name="직사각형 8"/>
          <p:cNvSpPr/>
          <p:nvPr userDrawn="1"/>
        </p:nvSpPr>
        <p:spPr>
          <a:xfrm>
            <a:off x="-9525" y="49957"/>
            <a:ext cx="209550" cy="492968"/>
          </a:xfrm>
          <a:prstGeom prst="rect">
            <a:avLst/>
          </a:prstGeom>
          <a:pattFill prst="ltDnDiag">
            <a:fgClr>
              <a:srgbClr val="2B578D"/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44302" y="54521"/>
            <a:ext cx="0" cy="47887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31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221907" y="631178"/>
            <a:ext cx="4752359" cy="60690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000" dirty="0" smtClean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10345" y="1721508"/>
            <a:ext cx="8819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전체 구조도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421945" y="2286138"/>
            <a:ext cx="4587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Gate</a:t>
            </a:r>
            <a:endParaRPr lang="ko-KR" altLang="en-US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409921" y="2850768"/>
            <a:ext cx="48282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단지 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25953" y="341539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가구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425954" y="398002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가전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249626" y="5396221"/>
            <a:ext cx="8034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기기정보</a:t>
            </a:r>
            <a:endParaRPr lang="en-US" altLang="ko-KR" sz="11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등록 </a:t>
            </a:r>
            <a:r>
              <a:rPr lang="en-US" altLang="ko-KR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/</a:t>
            </a:r>
            <a:r>
              <a:rPr lang="ko-KR" altLang="en-US" sz="1100" dirty="0" smtClean="0">
                <a:solidFill>
                  <a:schemeClr val="bg1"/>
                </a:solidFill>
                <a:latin typeface="Calibri" panose="020F0502020204030204" pitchFamily="34" charset="0"/>
              </a:rPr>
              <a:t>편집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308161" y="21257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 userDrawn="1"/>
        </p:nvCxnSpPr>
        <p:spPr>
          <a:xfrm>
            <a:off x="308161" y="2663135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 userDrawn="1"/>
        </p:nvCxnSpPr>
        <p:spPr>
          <a:xfrm>
            <a:off x="308161" y="3264713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 userDrawn="1"/>
        </p:nvCxnSpPr>
        <p:spPr>
          <a:xfrm>
            <a:off x="308161" y="3802124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 userDrawn="1"/>
        </p:nvCxnSpPr>
        <p:spPr>
          <a:xfrm>
            <a:off x="308161" y="43876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 userDrawn="1"/>
        </p:nvCxnSpPr>
        <p:spPr>
          <a:xfrm>
            <a:off x="308161" y="5302061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>
          <a:xfrm>
            <a:off x="308161" y="5895619"/>
            <a:ext cx="670407" cy="0"/>
          </a:xfrm>
          <a:prstGeom prst="line">
            <a:avLst/>
          </a:prstGeom>
          <a:ln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21705" y="109702"/>
            <a:ext cx="0" cy="400097"/>
          </a:xfrm>
          <a:prstGeom prst="line">
            <a:avLst/>
          </a:prstGeom>
          <a:ln w="28575">
            <a:solidFill>
              <a:srgbClr val="39557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텍스트 개체 틀 32"/>
          <p:cNvSpPr>
            <a:spLocks noGrp="1"/>
          </p:cNvSpPr>
          <p:nvPr>
            <p:ph type="body" sz="quarter" idx="11" hasCustomPrompt="1"/>
          </p:nvPr>
        </p:nvSpPr>
        <p:spPr>
          <a:xfrm>
            <a:off x="182118" y="168365"/>
            <a:ext cx="1992853" cy="27210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2000" b="1" kern="1200" dirty="0" smtClean="0">
                <a:solidFill>
                  <a:srgbClr val="39557F"/>
                </a:solidFill>
                <a:latin typeface="Calibri" panose="020F0502020204030204" pitchFamily="34" charset="0"/>
                <a:ea typeface="맑은 고딕" pitchFamily="50" charset="-127"/>
                <a:cs typeface="+mn-cs"/>
              </a:defRPr>
            </a:lvl1pPr>
          </a:lstStyle>
          <a:p>
            <a:pPr lvl="0"/>
            <a:r>
              <a:rPr lang="en-US" altLang="ko-KR" dirty="0" smtClean="0"/>
              <a:t>TITLE</a:t>
            </a:r>
            <a:endParaRPr lang="ko-KR" altLang="en-US" dirty="0" smtClean="0"/>
          </a:p>
        </p:txBody>
      </p:sp>
      <p:sp>
        <p:nvSpPr>
          <p:cNvPr id="18" name="직사각형 17"/>
          <p:cNvSpPr/>
          <p:nvPr userDrawn="1"/>
        </p:nvSpPr>
        <p:spPr>
          <a:xfrm>
            <a:off x="5060607" y="631178"/>
            <a:ext cx="4752359" cy="606902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1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42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13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684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55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26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198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369" algn="l" defTabSz="914342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30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: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000" b="1" dirty="0" smtClean="0">
              <a:solidFill>
                <a:schemeClr val="bg1"/>
              </a:solidFill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50766" y="2599089"/>
            <a:ext cx="7006490" cy="1143000"/>
          </a:xfrm>
          <a:prstGeom prst="rect">
            <a:avLst/>
          </a:prstGeom>
        </p:spPr>
        <p:txBody>
          <a:bodyPr wrap="none" lIns="0" tIns="0" rIns="0" anchor="ctr"/>
          <a:lstStyle>
            <a:lvl1pPr>
              <a:defRPr sz="28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2802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288704" y="2852936"/>
            <a:ext cx="54726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Thank</a:t>
            </a:r>
            <a:r>
              <a:rPr lang="en-US" altLang="ko-KR" sz="7000" b="1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 you</a:t>
            </a:r>
            <a:endParaRPr lang="ko-KR" altLang="en-US" sz="70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0" y="6309320"/>
            <a:ext cx="990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Corporate Introduction @ DANAL Co., Ltd. All Rights Reserved.</a:t>
            </a:r>
            <a:r>
              <a:rPr kumimoji="1" lang="ko-KR" altLang="en-US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</a:t>
            </a:r>
            <a:endParaRPr kumimoji="1" lang="en-US" altLang="ko-KR" sz="800" b="0" i="0" u="none" strike="noStrike" kern="1200" baseline="0" dirty="0" smtClean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794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288704" y="2852936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Calibri" pitchFamily="34" charset="0"/>
              </a:rPr>
              <a:t>고맙습니다</a:t>
            </a:r>
            <a:r>
              <a:rPr lang="en-US" altLang="ko-KR" sz="48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Calibri" pitchFamily="34" charset="0"/>
              </a:rPr>
              <a:t>.</a:t>
            </a:r>
            <a:endParaRPr lang="ko-KR" altLang="en-US" sz="4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0" y="6309320"/>
            <a:ext cx="990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Corporate Introduction @ DANAL Co., Ltd. All Rights Reserved.</a:t>
            </a:r>
            <a:r>
              <a:rPr kumimoji="1" lang="ko-KR" altLang="en-US" sz="800" b="0" i="0" u="none" strike="noStrike" kern="1200" baseline="0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         </a:t>
            </a:r>
            <a:endParaRPr kumimoji="1" lang="en-US" altLang="ko-KR" sz="800" b="0" i="0" u="none" strike="noStrike" kern="1200" baseline="0" dirty="0" smtClean="0">
              <a:solidFill>
                <a:schemeClr val="bg1">
                  <a:lumMod val="65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459" y="153748"/>
            <a:ext cx="1077533" cy="41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868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8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680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67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23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794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DFC97C24-D13C-4134-986B-6262495594F0}" type="datetimeFigureOut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ED0D0D7A-66E0-4DA2-9EC1-F1FAD039C6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68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95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70" r:id="rId3"/>
    <p:sldLayoutId id="2147483671" r:id="rId4"/>
    <p:sldLayoutId id="2147483663" r:id="rId5"/>
    <p:sldLayoutId id="2147483664" r:id="rId6"/>
    <p:sldLayoutId id="2147483665" r:id="rId7"/>
    <p:sldLayoutId id="2147483669" r:id="rId8"/>
    <p:sldLayoutId id="2147483668" r:id="rId9"/>
    <p:sldLayoutId id="2147483666" r:id="rId10"/>
    <p:sldLayoutId id="2147483667" r:id="rId11"/>
    <p:sldLayoutId id="2147483672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 b="1" sz="2800">
                <a:solidFill>
                  <a:srgbClr val="1A202C"/>
                </a:solidFill>
              </a:defRPr>
            </a:pPr>
            <a:r>
              <a:t>럭키픽 (LuckyPick)</a:t>
            </a:r>
          </a:p>
          <a:p>
            <a:r>
              <a:t>다날 결제서비스 연동 검수요청서</a:t>
            </a:r>
          </a:p>
        </p:txBody>
      </p:sp>
      <p:sp>
        <p:nvSpPr>
          <p:cNvPr id="36" name="텍스트 개체 틀 3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7" name="텍스트 개체 틀 3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8" name="텍스트 개체 틀 37"/>
          <p:cNvSpPr>
            <a:spLocks noGrp="1"/>
          </p:cNvSpPr>
          <p:nvPr>
            <p:ph type="body" sz="quarter" idx="13"/>
          </p:nvPr>
        </p:nvSpPr>
        <p:spPr>
          <a:xfrm>
            <a:off x="3480472" y="3789040"/>
            <a:ext cx="5936578" cy="286047"/>
          </a:xfrm>
        </p:spPr>
        <p:txBody>
          <a:bodyPr/>
          <a:lstStyle/>
          <a:p>
            <a:pPr>
              <a:defRPr sz="1300">
                <a:solidFill>
                  <a:srgbClr val="374151"/>
                </a:solidFill>
              </a:defRPr>
            </a:pPr>
            <a:r>
              <a:t>서비스 URL: https://luckypick-ec4cf.web.app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상호(법인명): 럭키픽 | 대표자: 이재영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사업자등록번호: 803-05-03449 | 통신판매업: 제 2026-화성새솔-0099 호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고객센터: 070-8019-3205 | 이메일: leejeayoung0713@gmail.com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사업장 소재지: 경기도 화성시 만세구 수노을1로 148, 101동 902호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TEST 계정: ID: tester@luckypick.kr / PW: LuckyPick2026!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신청 서비스: 휴대폰 소액결제(APP), 신용카드 결제(일반/간편)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작성일자: 2026. 10. 21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88504" y="6309320"/>
            <a:ext cx="1800200" cy="2160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41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① 사이트 메인 (URL노출 캡쳐)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서비스 URL (https://luckypick-ec4cf.web.app) 상단 주소창 노출</a:t>
            </a:r>
          </a:p>
        </p:txBody>
      </p:sp>
      <p:pic>
        <p:nvPicPr>
          <p:cNvPr id="3" name="Picture 2" descr="01_ma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214606"/>
            <a:ext cx="9106000" cy="49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9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② 사이트 메인 하단정보 ※상호명, 사업자번호, 유선번호, 소재지, 대표자명 기재必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상호: 럭키픽 | 대표: 이재영 | 사업자번호: 803-05-03449 | 고객센터: 070-8019-3205</a:t>
            </a:r>
          </a:p>
        </p:txBody>
      </p:sp>
      <p:pic>
        <p:nvPicPr>
          <p:cNvPr id="3" name="Picture 2" descr="02_footer_business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346" y="850000"/>
            <a:ext cx="6377308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5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③ 상품 및 포인트 충전 결제 프로세스 ※ 결제진행상품금액동일/ 금액임의입력불가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정찰제 패키지 선택 (10,000P / 32,000P / 55,000P / 115,000P), 금액 임의 수정 불가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000" y="120000"/>
            <a:ext cx="2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</a:defRPr>
            </a:pPr>
            <a:r>
              <a:t>TEST ID : tester@luckypick.kr</a:t>
            </a:r>
          </a:p>
          <a:p>
            <a:pPr algn="r">
              <a:defRPr sz="1100" b="1">
                <a:solidFill>
                  <a:srgbClr val="DC2626"/>
                </a:solidFill>
              </a:defRPr>
            </a:pPr>
            <a:r>
              <a:t>TEST PW : LuckyPick2026!</a:t>
            </a:r>
          </a:p>
        </p:txBody>
      </p:sp>
      <p:pic>
        <p:nvPicPr>
          <p:cNvPr id="4" name="Picture 3" descr="07_point_charge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67" y="850000"/>
            <a:ext cx="8106666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0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④ 결제창 연동 (포인트 충전 ₩10,000원 결제 수단 선택)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정찰제 ₩10,000원 결제 대상 &gt; 신용·체크카드 / 휴대폰 소액결제 선택창 호출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000" y="120000"/>
            <a:ext cx="2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</a:defRPr>
            </a:pPr>
            <a:r>
              <a:t>TEST ID : tester@luckypick.kr</a:t>
            </a:r>
          </a:p>
          <a:p>
            <a:pPr algn="r">
              <a:defRPr sz="1100" b="1">
                <a:solidFill>
                  <a:srgbClr val="DC2626"/>
                </a:solidFill>
              </a:defRPr>
            </a:pPr>
            <a:r>
              <a:t>TEST PW : LuckyPick2026!</a:t>
            </a:r>
          </a:p>
        </p:txBody>
      </p:sp>
      <p:pic>
        <p:nvPicPr>
          <p:cNvPr id="4" name="Picture 3" descr="08_point_charg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67" y="850000"/>
            <a:ext cx="8106666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9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⑤ 각 카드사 인증창 호출 (다날 신용카드 표준결제창 호출)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다날 신용카드 표준 결제창 호출 &gt; 각 카드사 선택창 (10,000원 결제)</a:t>
            </a:r>
          </a:p>
        </p:txBody>
      </p:sp>
      <p:pic>
        <p:nvPicPr>
          <p:cNvPr id="3" name="Picture 2" descr="media_1792501582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023" y="850000"/>
            <a:ext cx="6739953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6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⑤ 휴대폰 소액결제 연동창 호출 (SKT, KT, LGU+, 알뜰폰)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다날 휴대폰 소액결제 연동창 호출 &gt; 통신 3사 및 알뜰폰 본인인증 결제창</a:t>
            </a:r>
          </a:p>
        </p:txBody>
      </p:sp>
      <p:pic>
        <p:nvPicPr>
          <p:cNvPr id="3" name="Picture 2" descr="media_1792501062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72" y="850000"/>
            <a:ext cx="6289655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8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" y="120000"/>
            <a:ext cx="93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포인트 사용 프로세스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원하는 럭키박스 선택 후 개봉을 진행하면 충전된 포인트에서 차감됩니다</a:t>
            </a:r>
          </a:p>
        </p:txBody>
      </p:sp>
      <p:pic>
        <p:nvPicPr>
          <p:cNvPr id="3" name="Picture 2" descr="09_point_use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67" y="850000"/>
            <a:ext cx="8106666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6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이용약관(환불)</a:t>
            </a:r>
          </a:p>
          <a:p>
            <a:pPr>
              <a:defRPr b="0" sz="1300">
                <a:solidFill>
                  <a:srgbClr val="475569"/>
                </a:solidFill>
              </a:defRPr>
            </a:pPr>
            <a:r>
              <a:t>충전 후 미사용 포인트 7일 이내 원 결제수단 100% 전액 환불 규정</a:t>
            </a:r>
          </a:p>
        </p:txBody>
      </p:sp>
      <p:pic>
        <p:nvPicPr>
          <p:cNvPr id="3" name="Picture 2" descr="10_point_refund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67" y="850000"/>
            <a:ext cx="8106666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3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00" y="120000"/>
            <a:ext cx="93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E293B"/>
                </a:solidFill>
              </a:defRPr>
            </a:pPr>
            <a:r>
              <a:t>포인트 사용처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600000"/>
            <a:ext cx="8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2600">
                <a:solidFill>
                  <a:srgbClr val="DC2626"/>
                </a:solidFill>
              </a:defRPr>
            </a:pPr>
            <a:r>
              <a:t>해당 사이트에서만 포인트 사용이 가능합니다.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700000"/>
            <a:ext cx="87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1. 포인트 사용 가능 사이트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공식 서비스 URL: https://luckypick-ec4cf.web.app (럭키픽 온라인 플랫폼 전용)</a:t>
            </a:r>
            <a:br/>
            <a:r>
              <a:t>• 당사 사이트 외 타 사이트, 오프라인 매장 등에서는 일체 사용이 불가능합니다.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2. 포인트 사용 용도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럭키픽 플랫폼 내 블라인드 큐레이션 럭키박스(베이직, 프리미엄, VIP) 개봉 이용</a:t>
            </a:r>
            <a:br/>
            <a:r>
              <a:t>• 실물 득템 상품 보관함 출고 시 택배 배송비(3,000P) 결제 이용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3. 환금성 및 외부 유출 원천 차단 (비환금성 준수)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현금 환전 및 계좌 인출이 절대 불가능합니다. (환금성 0%)</a:t>
            </a:r>
            <a:br/>
            <a:r>
              <a:t>• 회원 간 포인트 선물, 양도, 이전 및 장외 개인 간 거래가 시스템상 원천 차단되어 있습니다.</a:t>
            </a:r>
          </a:p>
          <a:p>
            <a:pPr>
              <a:spcBef>
                <a:spcPts val="800"/>
              </a:spcBef>
              <a:defRPr b="1" sz="1400">
                <a:solidFill>
                  <a:srgbClr val="0F172A"/>
                </a:solidFill>
              </a:defRPr>
            </a:pPr>
            <a:r>
              <a:t>4. 미사용 포인트 청약철회 및 환불 원칙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유료 결제로 충전한 후 사용하지 않은 잔여 포인트는 결제일로부터 7일 이내 요청 시 구매자의 원 결제수단(신용카드 승인 취소, 휴대폰 소액결제 승인 취소)으로 100% 전액 환불 처리됩니다.</a:t>
            </a:r>
            <a:br/>
            <a:r>
              <a:t>• 별도의 현금 지급이나 계좌 송금 형태의 환불은 전자상거래법 및 PG사 규정에 따라 불가합니다.</a:t>
            </a:r>
          </a:p>
        </p:txBody>
      </p:sp>
    </p:spTree>
    <p:extLst>
      <p:ext uri="{BB962C8B-B14F-4D97-AF65-F5344CB8AC3E}">
        <p14:creationId xmlns:p14="http://schemas.microsoft.com/office/powerpoint/2010/main" val="79197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00" y="2600000"/>
            <a:ext cx="79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1E293B"/>
                </a:solidFill>
              </a:defRPr>
            </a:pPr>
            <a:r>
              <a:t>감사합니다.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6300000"/>
            <a:ext cx="79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Corporate Introduction @ DANAL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0491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174</Words>
  <Application>Microsoft Office PowerPoint</Application>
  <PresentationFormat>A4 용지(210x297mm)</PresentationFormat>
  <Paragraphs>14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나눔고딕</vt:lpstr>
      <vt:lpstr>맑은 고딕</vt:lpstr>
      <vt:lpstr>Arial</vt:lpstr>
      <vt:lpstr>Calibri</vt:lpstr>
      <vt:lpstr>Tahoma</vt:lpstr>
      <vt:lpstr>Times New Roman</vt:lpstr>
      <vt:lpstr>Wingdings 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㈜팝아이콘(로또팟) 결제경로</dc:title>
  <dc:creator>sykwon@danal.co.kr</dc:creator>
  <cp:lastModifiedBy>이소원</cp:lastModifiedBy>
  <cp:revision>75</cp:revision>
  <dcterms:created xsi:type="dcterms:W3CDTF">2015-10-26T09:15:08Z</dcterms:created>
  <dcterms:modified xsi:type="dcterms:W3CDTF">2024-12-16T02:09:20Z</dcterms:modified>
</cp:coreProperties>
</file>